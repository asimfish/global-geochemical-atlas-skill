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先看右侧，这不是效果图，而是我们的 D3 expanded global run。地球化学地图最危险的地方，是颜色很有冲击力，证据却不可核查。我们的目标不是给散点上色，而是把公开测定变成可追溯研究界面：真实运行、离线自包含，并直接面向比赛要求的五类交付。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用户只需要给出元素、区域和样品介质。D1 负责公开来源、版本许可、记录定位符和哈希；D2 用确定性脚本完成单位与基准统一、质量控制、地质背景和稳健 MAD 候选识别；D3 再按 profile 生成地图、证据视图和迭代入口。最终同时得到交互地图、标准数据库、来源与置信度、异常结果和可复用 Skill。高自由度交给 Agent，科学红线交给可测试代码。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现在进入真实全球运行。当前 expanded run 有四万四千五百一十条测定成功上图，对应一万一千五百四十八个物理样点、四种介质和五百三十五个 high 或 low 记录候选，界面同时暴露地图、数据库、来源置信度和异常页签。现场网络和浏览器允许时，我会切换到原始 HTML 旋转、缩放和点选；否则这张完整无裁切截图就是稳定后备。这里的热区只表示采样密度，不是浓度插值；总计四万四千五百三十六条 canonical records，二十六条不可上图记录仍留在数据库和 QC 中。十五个来源是声明来源，不等同于独立核验。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同一个 D3 接口继续下钻中国：七千一百一十四条测定、一千四百六十四个物理样点、一百三十六个记录候选，覆盖六个元素和两种介质。范围不是简单矩形框，而是 Natural Earth 国家多边形与 WGS84 bbox 联合严格裁剪，框内邻国记录会被排除。现场可继续打开中国交互 HTML；截图同样完整保留严格裁剪说明。红色 high 和青色 low 只是筛查方向，不能直接解释为污染、矿化或成因。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信不等于永远给答案。零点八七四是工作流可用性的置信度，不是百分之八十七点四的正确概率；五百三十五个记录候选，也不是五百三十五个成因结论。五个分量分别是来源零点八九七、完整性零点九五六、方法零点八一三、空间零点八零零、质量控制零点八七六。系统同时把失败边界做成可见结果：二百四十八条删失观测绝不补成零，二十六条不可上图记录仍可审计；expanded slice 的 locator 覆盖率是百分之百，但 independent verified count 仍然是零，所以证据等级不升级。D3 只呈现 D1 和 D2 的证据，不重新计算科学结论。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最后请记住一句话：一个请求，五类交付，全链可核查。交互元素分布地图、标准化地球化学数据库、数据来源与置信度说明、异常区域识别结果和可复用 Skill 文档，都由同一个稳定接口交付。当前运行证明是十五个声明来源、四万四千五百三十六条 canonical records，以及全球和中国两个真实视图。打开、检查、追溯、复现，这就是 Global Geochemical Atlas Skill。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4c439e1cf0685c6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4c439e1cf0685c6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28e97ae3e9f38e9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98000"/>
                </a:schemeClr>
              </a:gs>
              <a:gs pos="46000">
                <a:schemeClr val="lt1">
                  <a:alpha val="86000"/>
                </a:schemeClr>
              </a:gs>
              <a:gs pos="72000">
                <a:schemeClr val="lt1">
                  <a:alpha val="34000"/>
                </a:schemeClr>
              </a:gs>
              <a:gs pos="100000">
                <a:schemeClr val="lt1">
                  <a:alpha val="400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476750"/>
            <a:ext cx="12192000" cy="2381250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800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sp>
          <p:nvSpPr>
            <p:cNvPr id="5" name="Freeform 5"/>
            <p:cNvSpPr/>
            <p:nvPr/>
          </p:nvSpPr>
          <p:spPr>
            <a:xfrm>
              <a:off x="6096000" y="0"/>
              <a:ext cx="6096000" cy="6858000"/>
            </a:xfrm>
            <a:custGeom>
              <a:avLst/>
              <a:gdLst/>
              <a:ahLst/>
              <a:cxnLst/>
              <a:rect l="l" t="t" r="r" b="b"/>
              <a:pathLst>
                <a:path w="6096000" h="6858000">
                  <a:moveTo>
                    <a:pt x="1143000" y="0"/>
                  </a:moveTo>
                  <a:lnTo>
                    <a:pt x="1143000" y="6858000"/>
                  </a:lnTo>
                  <a:moveTo>
                    <a:pt x="2286000" y="0"/>
                  </a:moveTo>
                  <a:lnTo>
                    <a:pt x="2286000" y="6858000"/>
                  </a:lnTo>
                  <a:moveTo>
                    <a:pt x="3429000" y="0"/>
                  </a:moveTo>
                  <a:lnTo>
                    <a:pt x="3429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5715000" y="0"/>
                  </a:moveTo>
                  <a:lnTo>
                    <a:pt x="5715000" y="6858000"/>
                  </a:lnTo>
                  <a:moveTo>
                    <a:pt x="0" y="1143000"/>
                  </a:moveTo>
                  <a:lnTo>
                    <a:pt x="6096000" y="1143000"/>
                  </a:lnTo>
                  <a:moveTo>
                    <a:pt x="0" y="2286000"/>
                  </a:moveTo>
                  <a:lnTo>
                    <a:pt x="6096000" y="2286000"/>
                  </a:lnTo>
                  <a:moveTo>
                    <a:pt x="0" y="3429000"/>
                  </a:moveTo>
                  <a:lnTo>
                    <a:pt x="6096000" y="3429000"/>
                  </a:lnTo>
                  <a:moveTo>
                    <a:pt x="0" y="4572000"/>
                  </a:moveTo>
                  <a:lnTo>
                    <a:pt x="6096000" y="4572000"/>
                  </a:lnTo>
                  <a:moveTo>
                    <a:pt x="0" y="5715000"/>
                  </a:moveTo>
                  <a:lnTo>
                    <a:pt x="6096000" y="5715000"/>
                  </a:lnTo>
                </a:path>
              </a:pathLst>
            </a:custGeom>
            <a:noFill/>
            <a:ln w="9525">
              <a:solidFill>
                <a:schemeClr val="accent1">
                  <a:alpha val="12000"/>
                </a:scheme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7286625" y="1190625"/>
              <a:ext cx="4476750" cy="4476750"/>
            </a:xfrm>
            <a:prstGeom prst="ellipse">
              <a:avLst/>
            </a:prstGeom>
            <a:noFill/>
            <a:ln w="9525">
              <a:solidFill>
                <a:schemeClr val="accent1">
                  <a:alpha val="12000"/>
                </a:scheme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96250" y="2000250"/>
              <a:ext cx="2857500" cy="2857500"/>
            </a:xfrm>
            <a:prstGeom prst="ellipse">
              <a:avLst/>
            </a:prstGeom>
            <a:noFill/>
            <a:ln w="9525">
              <a:solidFill>
                <a:schemeClr val="accent1">
                  <a:alpha val="12000"/>
                </a:scheme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334375" y="419100"/>
            <a:ext cx="1619250" cy="6019800"/>
            <a:chOff x="8334375" y="419100"/>
            <a:chExt cx="1619250" cy="6019800"/>
          </a:xfrm>
        </p:grpSpPr>
        <p:sp>
          <p:nvSpPr>
            <p:cNvPr id="9" name="Rectangle 9"/>
            <p:cNvSpPr/>
            <p:nvPr/>
          </p:nvSpPr>
          <p:spPr>
            <a:xfrm>
              <a:off x="9124950" y="419100"/>
              <a:ext cx="38100" cy="6019800"/>
            </a:xfrm>
            <a:prstGeom prst="rect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glow rad="47625">
                <a:srgbClr val="69F5E6">
                  <a:alpha val="50000"/>
                </a:srgbClr>
              </a:glo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8334375" y="419100"/>
              <a:ext cx="1619250" cy="6019800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50000">
                  <a:schemeClr val="accent1">
                    <a:alpha val="216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077325" y="33623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934450" y="3219450"/>
              <a:ext cx="419100" cy="419100"/>
            </a:xfrm>
            <a:prstGeom prst="ellipse">
              <a:avLst/>
            </a:prstGeom>
            <a:noFill/>
            <a:ln w="19050">
              <a:solidFill>
                <a:schemeClr val="accent1">
                  <a:alpha val="55000"/>
                </a:schemeClr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14350" y="510540"/>
            <a:ext cx="6447841" cy="4620577"/>
            <a:chOff x="514350" y="510540"/>
            <a:chExt cx="6447841" cy="4620577"/>
          </a:xfrm>
        </p:grpSpPr>
        <p:sp>
          <p:nvSpPr>
            <p:cNvPr id="14" name="TextBox 14"/>
            <p:cNvSpPr txBox="1"/>
            <p:nvPr/>
          </p:nvSpPr>
          <p:spPr>
            <a:xfrm>
              <a:off x="524256" y="510540"/>
              <a:ext cx="64379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12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AI4S 2026 · GLOBAL GEOCHEMICAL ATLAS SKILL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33400" y="971550"/>
              <a:ext cx="1428750" cy="9525"/>
            </a:xfrm>
            <a:custGeom>
              <a:avLst/>
              <a:gdLst/>
              <a:ahLst/>
              <a:cxnLst/>
              <a:rect l="l" t="t" r="r" b="b"/>
              <a:pathLst>
                <a:path w="1428750" h="9525">
                  <a:moveTo>
                    <a:pt x="0" y="0"/>
                  </a:moveTo>
                  <a:lnTo>
                    <a:pt x="14287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4350" y="1337310"/>
              <a:ext cx="395859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颜色没有证据</a:t>
              </a:r>
              <a:br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地图就没有意义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7398" y="3088958"/>
              <a:ext cx="2972372" cy="11494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把公开测定变成</a:t>
              </a:r>
              <a:br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可追溯研究界面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970" y="4271962"/>
              <a:ext cx="3737610" cy="8591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不是给散点上色，</a:t>
              </a:r>
              <a:br/>
              <a:r>
                <a:rPr lang="zh-CN" sz="22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而是把每个结论绑定到证据。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5295900"/>
            <a:ext cx="4798771" cy="462534"/>
            <a:chOff x="533400" y="5295900"/>
            <a:chExt cx="4798771" cy="462534"/>
          </a:xfrm>
        </p:grpSpPr>
        <p:sp>
          <p:nvSpPr>
            <p:cNvPr id="20" name="Rectangle 20"/>
            <p:cNvSpPr/>
            <p:nvPr/>
          </p:nvSpPr>
          <p:spPr>
            <a:xfrm>
              <a:off x="533400" y="5295900"/>
              <a:ext cx="1428750" cy="45720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92000"/>
              </a:schemeClr>
            </a:solidFill>
            <a:ln w="14288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23900" y="54673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3356" y="5406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真实运行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95500" y="5295900"/>
              <a:ext cx="1657350" cy="45720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92000"/>
              </a:schemeClr>
            </a:solidFill>
            <a:ln w="14288">
              <a:solidFill>
                <a:schemeClr val="accent1">
                  <a:alpha val="55000"/>
                </a:schemeClr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286000" y="54673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05456" y="54063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离线自包含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886200" y="5295900"/>
              <a:ext cx="1428750" cy="45720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92000"/>
              </a:schemeClr>
            </a:solidFill>
            <a:ln w="14288">
              <a:solidFill>
                <a:schemeClr val="accent3">
                  <a:alpha val="70000"/>
                </a:schemeClr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076700" y="5467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96156" y="5406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五类交付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244504" y="6290310"/>
            <a:ext cx="3515442" cy="234696"/>
            <a:chOff x="8244504" y="6290310"/>
            <a:chExt cx="351544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8244504" y="6290310"/>
              <a:ext cx="3515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D3 expanded global run · screenshot no-crop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xmlns:p="http://schemas.openxmlformats.org/presentationml/2006/main" id="13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7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143000"/>
                  </a:moveTo>
                  <a:lnTo>
                    <a:pt x="12192000" y="1143000"/>
                  </a:lnTo>
                  <a:moveTo>
                    <a:pt x="0" y="2286000"/>
                  </a:moveTo>
                  <a:lnTo>
                    <a:pt x="12192000" y="2286000"/>
                  </a:lnTo>
                  <a:moveTo>
                    <a:pt x="0" y="3429000"/>
                  </a:moveTo>
                  <a:lnTo>
                    <a:pt x="12192000" y="3429000"/>
                  </a:lnTo>
                  <a:moveTo>
                    <a:pt x="0" y="4572000"/>
                  </a:moveTo>
                  <a:lnTo>
                    <a:pt x="12192000" y="4572000"/>
                  </a:lnTo>
                  <a:moveTo>
                    <a:pt x="0" y="5715000"/>
                  </a:moveTo>
                  <a:lnTo>
                    <a:pt x="12192000" y="57150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048000" y="0"/>
                  </a:moveTo>
                  <a:lnTo>
                    <a:pt x="3048000" y="6858000"/>
                  </a:lnTo>
                  <a:moveTo>
                    <a:pt x="4572000" y="0"/>
                  </a:moveTo>
                  <a:lnTo>
                    <a:pt x="4572000" y="6858000"/>
                  </a:lnTo>
                  <a:moveTo>
                    <a:pt x="6096000" y="0"/>
                  </a:moveTo>
                  <a:lnTo>
                    <a:pt x="6096000" y="6858000"/>
                  </a:lnTo>
                  <a:moveTo>
                    <a:pt x="7620000" y="0"/>
                  </a:moveTo>
                  <a:lnTo>
                    <a:pt x="7620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0668000" y="0"/>
                  </a:moveTo>
                  <a:lnTo>
                    <a:pt x="10668000" y="68580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143000" y="3686175"/>
              <a:ext cx="9906000" cy="2247900"/>
            </a:xfrm>
            <a:prstGeom prst="ellipse">
              <a:avLst/>
            </a:prstGeom>
            <a:noFill/>
            <a:ln w="9525">
              <a:solidFill>
                <a:schemeClr val="accent1">
                  <a:alpha val="16000"/>
                </a:schemeClr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76250" y="358140"/>
            <a:ext cx="6568516" cy="1112520"/>
            <a:chOff x="476250" y="358140"/>
            <a:chExt cx="6568516" cy="1112520"/>
          </a:xfrm>
        </p:grpSpPr>
        <p:sp>
          <p:nvSpPr>
            <p:cNvPr id="5" name="TextBox 5"/>
            <p:cNvSpPr txBox="1"/>
            <p:nvPr/>
          </p:nvSpPr>
          <p:spPr>
            <a:xfrm>
              <a:off x="486156" y="358140"/>
              <a:ext cx="45127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12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01 · EXECUTABLE EVIDENCE CHAIN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76250" y="6515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一个请求，启动证据引擎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95300" y="1409700"/>
            <a:ext cx="11201400" cy="552450"/>
            <a:chOff x="495300" y="1409700"/>
            <a:chExt cx="11201400" cy="552450"/>
          </a:xfrm>
        </p:grpSpPr>
        <p:sp>
          <p:nvSpPr>
            <p:cNvPr id="8" name="Rectangle 8"/>
            <p:cNvSpPr/>
            <p:nvPr/>
          </p:nvSpPr>
          <p:spPr>
            <a:xfrm>
              <a:off x="495300" y="1409700"/>
              <a:ext cx="11201400" cy="552450"/>
            </a:xfrm>
            <a:prstGeom prst="roundRect">
              <a:avLst>
                <a:gd name="adj" fmla="val 20690"/>
              </a:avLst>
            </a:prstGeom>
            <a:solidFill>
              <a:schemeClr val="lt1"/>
            </a:solidFill>
            <a:ln w="14288">
              <a:solidFill>
                <a:schemeClr val="accent1">
                  <a:alpha val="65000"/>
                </a:scheme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14375" y="1619250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2332" y="1544955"/>
              <a:ext cx="99808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{elements:[As,Cu], region:global, media:[rock,soil,sediment,water]}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52600" y="3038475"/>
            <a:ext cx="7581900" cy="95250"/>
            <a:chOff x="1752600" y="3038475"/>
            <a:chExt cx="7581900" cy="95250"/>
          </a:xfrm>
        </p:grpSpPr>
        <p:sp>
          <p:nvSpPr>
            <p:cNvPr id="12" name="Line 12"/>
            <p:cNvSpPr/>
            <p:nvPr/>
          </p:nvSpPr>
          <p:spPr>
            <a:xfrm>
              <a:off x="1752600" y="3086100"/>
              <a:ext cx="1638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Line 13"/>
            <p:cNvSpPr/>
            <p:nvPr/>
          </p:nvSpPr>
          <p:spPr>
            <a:xfrm>
              <a:off x="4724400" y="3086100"/>
              <a:ext cx="1638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7696200" y="3086100"/>
              <a:ext cx="1638300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762125" y="3038475"/>
              <a:ext cx="7572375" cy="95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alpha val="3200"/>
                  </a:schemeClr>
                </a:gs>
                <a:gs pos="50000">
                  <a:schemeClr val="accent1">
                    <a:alpha val="16000"/>
                  </a:schemeClr>
                </a:gs>
                <a:gs pos="100000">
                  <a:schemeClr val="accent3">
                    <a:alpha val="1600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954519" y="2419350"/>
            <a:ext cx="1824761" cy="1897189"/>
            <a:chOff x="954519" y="2419350"/>
            <a:chExt cx="1824761" cy="1897189"/>
          </a:xfrm>
        </p:grpSpPr>
        <p:sp>
          <p:nvSpPr>
            <p:cNvPr id="17" name="Ellipse 17"/>
            <p:cNvSpPr/>
            <p:nvPr/>
          </p:nvSpPr>
          <p:spPr>
            <a:xfrm>
              <a:off x="1200150" y="241935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4519" y="2726055"/>
              <a:ext cx="18247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D1 · SOURCE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19390" y="3090862"/>
              <a:ext cx="12950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公开来源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332" y="3708082"/>
              <a:ext cx="147313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版本许可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locator + hash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745897" y="2419350"/>
            <a:ext cx="2185606" cy="1897189"/>
            <a:chOff x="3745897" y="2419350"/>
            <a:chExt cx="2185606" cy="1897189"/>
          </a:xfrm>
        </p:grpSpPr>
        <p:sp>
          <p:nvSpPr>
            <p:cNvPr id="22" name="Ellipse 22"/>
            <p:cNvSpPr/>
            <p:nvPr/>
          </p:nvSpPr>
          <p:spPr>
            <a:xfrm>
              <a:off x="4171950" y="241935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10637" y="2726055"/>
              <a:ext cx="18561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D2 · SCIENCE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79577" y="3090862"/>
              <a:ext cx="15182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单位 + QC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45897" y="3708082"/>
              <a:ext cx="218560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unit + basis · geology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QC · robust MAD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93882" y="2419350"/>
            <a:ext cx="2233236" cy="1897189"/>
            <a:chOff x="6693882" y="2419350"/>
            <a:chExt cx="2233236" cy="1897189"/>
          </a:xfrm>
        </p:grpSpPr>
        <p:sp>
          <p:nvSpPr>
            <p:cNvPr id="27" name="Ellipse 27"/>
            <p:cNvSpPr/>
            <p:nvPr/>
          </p:nvSpPr>
          <p:spPr>
            <a:xfrm>
              <a:off x="7143750" y="2419350"/>
              <a:ext cx="1333500" cy="13335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11869" y="2726055"/>
              <a:ext cx="19972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D3 · PRODUCT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93882" y="3090862"/>
              <a:ext cx="223323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profile-driven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52977" y="3708082"/>
              <a:ext cx="1515046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2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map · evidence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iteration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64380" y="2590800"/>
            <a:ext cx="1711940" cy="1053084"/>
            <a:chOff x="9564380" y="2590800"/>
            <a:chExt cx="1711940" cy="1053084"/>
          </a:xfrm>
        </p:grpSpPr>
        <p:sp>
          <p:nvSpPr>
            <p:cNvPr id="32" name="Ellipse 32"/>
            <p:cNvSpPr/>
            <p:nvPr/>
          </p:nvSpPr>
          <p:spPr>
            <a:xfrm>
              <a:off x="9925050" y="2590800"/>
              <a:ext cx="990600" cy="990600"/>
            </a:xfrm>
            <a:prstGeom prst="ellipse">
              <a:avLst/>
            </a:prstGeom>
            <a:solidFill>
              <a:schemeClr val="accent1">
                <a:alpha val="14000"/>
              </a:schemeClr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169880" y="2729656"/>
              <a:ext cx="500515" cy="371976"/>
              <a:chOff x="10169880" y="2729656"/>
              <a:chExt cx="500515" cy="3719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186988" y="2947988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66675"/>
                    </a:moveTo>
                    <a:cubicBezTo>
                      <a:pt x="133350" y="103499"/>
                      <a:pt x="103499" y="133350"/>
                      <a:pt x="66675" y="133350"/>
                    </a:cubicBez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cubicBezTo>
                      <a:pt x="103499" y="0"/>
                      <a:pt x="133350" y="29851"/>
                      <a:pt x="133350" y="66675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169880" y="2729656"/>
                <a:ext cx="500515" cy="371976"/>
              </a:xfrm>
              <a:custGeom>
                <a:avLst/>
                <a:gdLst/>
                <a:ahLst/>
                <a:cxnLst/>
                <a:rect l="l" t="t" r="r" b="b"/>
                <a:pathLst>
                  <a:path w="500515" h="371976">
                    <a:moveTo>
                      <a:pt x="495626" y="73188"/>
                    </a:moveTo>
                    <a:lnTo>
                      <a:pt x="428951" y="6513"/>
                    </a:lnTo>
                    <a:cubicBezTo>
                      <a:pt x="422438" y="0"/>
                      <a:pt x="411878" y="0"/>
                      <a:pt x="405365" y="6513"/>
                    </a:cubicBezTo>
                    <a:cubicBezTo>
                      <a:pt x="398851" y="13026"/>
                      <a:pt x="398851" y="23586"/>
                      <a:pt x="405365" y="30099"/>
                    </a:cubicBezTo>
                    <a:lnTo>
                      <a:pt x="443599" y="68313"/>
                    </a:lnTo>
                    <a:lnTo>
                      <a:pt x="383820" y="68313"/>
                    </a:lnTo>
                    <a:cubicBezTo>
                      <a:pt x="363399" y="69053"/>
                      <a:pt x="343325" y="73818"/>
                      <a:pt x="324750" y="82335"/>
                    </a:cubicBezTo>
                    <a:cubicBezTo>
                      <a:pt x="296372" y="95441"/>
                      <a:pt x="260513" y="123403"/>
                      <a:pt x="250699" y="182348"/>
                    </a:cubicBezTo>
                    <a:cubicBezTo>
                      <a:pt x="239615" y="248877"/>
                      <a:pt x="190067" y="264066"/>
                      <a:pt x="165272" y="267483"/>
                    </a:cubicBezTo>
                    <a:cubicBezTo>
                      <a:pt x="156216" y="225680"/>
                      <a:pt x="116984" y="197518"/>
                      <a:pt x="74480" y="202311"/>
                    </a:cubicBezTo>
                    <a:cubicBezTo>
                      <a:pt x="31976" y="207103"/>
                      <a:pt x="0" y="243293"/>
                      <a:pt x="479" y="286064"/>
                    </a:cubicBezTo>
                    <a:cubicBezTo>
                      <a:pt x="959" y="328834"/>
                      <a:pt x="33738" y="364299"/>
                      <a:pt x="76339" y="368137"/>
                    </a:cubicBezTo>
                    <a:cubicBezTo>
                      <a:pt x="118939" y="371976"/>
                      <a:pt x="157530" y="342942"/>
                      <a:pt x="165647" y="300946"/>
                    </a:cubicBezTo>
                    <a:cubicBezTo>
                      <a:pt x="180633" y="299238"/>
                      <a:pt x="195273" y="295269"/>
                      <a:pt x="209069" y="289173"/>
                    </a:cubicBezTo>
                    <a:cubicBezTo>
                      <a:pt x="237448" y="276672"/>
                      <a:pt x="273390" y="248752"/>
                      <a:pt x="283579" y="187723"/>
                    </a:cubicBezTo>
                    <a:cubicBezTo>
                      <a:pt x="297664" y="103254"/>
                      <a:pt x="380361" y="101650"/>
                      <a:pt x="383820" y="101650"/>
                    </a:cubicBezTo>
                    <a:lnTo>
                      <a:pt x="443599" y="101650"/>
                    </a:lnTo>
                    <a:lnTo>
                      <a:pt x="405365" y="139863"/>
                    </a:lnTo>
                    <a:cubicBezTo>
                      <a:pt x="398851" y="146376"/>
                      <a:pt x="398851" y="156936"/>
                      <a:pt x="405365" y="163449"/>
                    </a:cubicBezTo>
                    <a:cubicBezTo>
                      <a:pt x="411878" y="169963"/>
                      <a:pt x="422438" y="169963"/>
                      <a:pt x="428951" y="163449"/>
                    </a:cubicBezTo>
                    <a:lnTo>
                      <a:pt x="495626" y="96774"/>
                    </a:lnTo>
                    <a:cubicBezTo>
                      <a:pt x="498756" y="93648"/>
                      <a:pt x="500515" y="89405"/>
                      <a:pt x="500515" y="84981"/>
                    </a:cubicBezTo>
                    <a:cubicBezTo>
                      <a:pt x="500515" y="80557"/>
                      <a:pt x="498756" y="76315"/>
                      <a:pt x="495626" y="73188"/>
                    </a:cubicBezTo>
                    <a:close/>
                    <a:moveTo>
                      <a:pt x="83783" y="335013"/>
                    </a:moveTo>
                    <a:cubicBezTo>
                      <a:pt x="56165" y="335013"/>
                      <a:pt x="33776" y="312624"/>
                      <a:pt x="33776" y="285006"/>
                    </a:cubicBezTo>
                    <a:cubicBezTo>
                      <a:pt x="33776" y="257389"/>
                      <a:pt x="56165" y="235000"/>
                      <a:pt x="83783" y="235000"/>
                    </a:cubicBezTo>
                    <a:cubicBezTo>
                      <a:pt x="111400" y="235000"/>
                      <a:pt x="133789" y="257389"/>
                      <a:pt x="133789" y="285006"/>
                    </a:cubicBezTo>
                    <a:cubicBezTo>
                      <a:pt x="133789" y="312624"/>
                      <a:pt x="111400" y="335013"/>
                      <a:pt x="83783" y="3350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9564380" y="3291840"/>
              <a:ext cx="17119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FIVE OUTPUTS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428750" y="3581400"/>
            <a:ext cx="9144000" cy="1676400"/>
            <a:chOff x="1428750" y="3581400"/>
            <a:chExt cx="9144000" cy="1676400"/>
          </a:xfrm>
        </p:grpSpPr>
        <p:sp>
          <p:nvSpPr>
            <p:cNvPr id="38" name="Line 38"/>
            <p:cNvSpPr/>
            <p:nvPr/>
          </p:nvSpPr>
          <p:spPr>
            <a:xfrm>
              <a:off x="1428750" y="3581400"/>
              <a:ext cx="8991600" cy="1676400"/>
            </a:xfrm>
            <a:custGeom>
              <a:avLst/>
              <a:gdLst/>
              <a:ahLst/>
              <a:cxnLst/>
              <a:rect l="l" t="t" r="r" b="b"/>
              <a:pathLst>
                <a:path w="8991600" h="1676400">
                  <a:moveTo>
                    <a:pt x="8991600" y="0"/>
                  </a:moveTo>
                  <a:lnTo>
                    <a:pt x="0" y="1676400"/>
                  </a:lnTo>
                </a:path>
              </a:pathLst>
            </a:custGeom>
            <a:noFill/>
            <a:ln w="14288">
              <a:solidFill>
                <a:schemeClr val="accent1">
                  <a:alpha val="45000"/>
                </a:scheme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714750" y="3581400"/>
              <a:ext cx="6705600" cy="1352550"/>
            </a:xfrm>
            <a:custGeom>
              <a:avLst/>
              <a:gdLst/>
              <a:ahLst/>
              <a:cxnLst/>
              <a:rect l="l" t="t" r="r" b="b"/>
              <a:pathLst>
                <a:path w="6705600" h="1352550">
                  <a:moveTo>
                    <a:pt x="6705600" y="0"/>
                  </a:moveTo>
                  <a:lnTo>
                    <a:pt x="0" y="1352550"/>
                  </a:lnTo>
                </a:path>
              </a:pathLst>
            </a:custGeom>
            <a:noFill/>
            <a:ln w="14288">
              <a:solidFill>
                <a:schemeClr val="accent1">
                  <a:alpha val="45000"/>
                </a:scheme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6000750" y="3581400"/>
              <a:ext cx="4419600" cy="1181100"/>
            </a:xfrm>
            <a:custGeom>
              <a:avLst/>
              <a:gdLst/>
              <a:ahLst/>
              <a:cxnLst/>
              <a:rect l="l" t="t" r="r" b="b"/>
              <a:pathLst>
                <a:path w="4419600" h="1181100">
                  <a:moveTo>
                    <a:pt x="4419600" y="0"/>
                  </a:moveTo>
                  <a:lnTo>
                    <a:pt x="0" y="1181100"/>
                  </a:lnTo>
                </a:path>
              </a:pathLst>
            </a:custGeom>
            <a:noFill/>
            <a:ln w="14288">
              <a:solidFill>
                <a:schemeClr val="accent1">
                  <a:alpha val="45000"/>
                </a:scheme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8286750" y="3581400"/>
              <a:ext cx="2133600" cy="1352550"/>
            </a:xfrm>
            <a:custGeom>
              <a:avLst/>
              <a:gdLst/>
              <a:ahLst/>
              <a:cxnLst/>
              <a:rect l="l" t="t" r="r" b="b"/>
              <a:pathLst>
                <a:path w="2133600" h="1352550">
                  <a:moveTo>
                    <a:pt x="2133600" y="0"/>
                  </a:moveTo>
                  <a:lnTo>
                    <a:pt x="0" y="1352550"/>
                  </a:lnTo>
                </a:path>
              </a:pathLst>
            </a:custGeom>
            <a:noFill/>
            <a:ln w="14288">
              <a:solidFill>
                <a:schemeClr val="accent1">
                  <a:alpha val="45000"/>
                </a:scheme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0420350" y="3581400"/>
              <a:ext cx="152400" cy="1676400"/>
            </a:xfrm>
            <a:custGeom>
              <a:avLst/>
              <a:gdLst/>
              <a:ahLst/>
              <a:cxnLst/>
              <a:rect l="l" t="t" r="r" b="b"/>
              <a:pathLst>
                <a:path w="152400" h="1676400">
                  <a:moveTo>
                    <a:pt x="0" y="0"/>
                  </a:moveTo>
                  <a:lnTo>
                    <a:pt x="152400" y="1676400"/>
                  </a:lnTo>
                </a:path>
              </a:pathLst>
            </a:custGeom>
            <a:noFill/>
            <a:ln w="14288">
              <a:solidFill>
                <a:schemeClr val="accent1">
                  <a:alpha val="45000"/>
                </a:schemeClr>
              </a:solidFill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532805" y="5116954"/>
            <a:ext cx="1600795" cy="374780"/>
            <a:chOff x="532805" y="5116954"/>
            <a:chExt cx="1600795" cy="374780"/>
          </a:xfrm>
        </p:grpSpPr>
        <p:grpSp>
          <p:nvGrpSpPr>
            <p:cNvPr id="46" name="Group 46"/>
            <p:cNvGrpSpPr/>
            <p:nvPr/>
          </p:nvGrpSpPr>
          <p:grpSpPr>
            <a:xfrm>
              <a:off x="532805" y="5116954"/>
              <a:ext cx="325040" cy="300389"/>
              <a:chOff x="532805" y="5116954"/>
              <a:chExt cx="325040" cy="300389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" y="5129808"/>
                <a:ext cx="100012" cy="275034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275034">
                    <a:moveTo>
                      <a:pt x="100012" y="50006"/>
                    </a:moveTo>
                    <a:lnTo>
                      <a:pt x="100012" y="275034"/>
                    </a:lnTo>
                    <a:lnTo>
                      <a:pt x="0" y="2250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32805" y="5116954"/>
                <a:ext cx="325040" cy="300389"/>
              </a:xfrm>
              <a:custGeom>
                <a:avLst/>
                <a:gdLst/>
                <a:ahLst/>
                <a:cxnLst/>
                <a:rect l="l" t="t" r="r" b="b"/>
                <a:pathLst>
                  <a:path w="325040" h="300389">
                    <a:moveTo>
                      <a:pt x="320227" y="27996"/>
                    </a:moveTo>
                    <a:cubicBezTo>
                      <a:pt x="317192" y="25632"/>
                      <a:pt x="313238" y="24796"/>
                      <a:pt x="309506" y="25730"/>
                    </a:cubicBezTo>
                    <a:lnTo>
                      <a:pt x="213979" y="49608"/>
                    </a:lnTo>
                    <a:lnTo>
                      <a:pt x="118108" y="1665"/>
                    </a:lnTo>
                    <a:cubicBezTo>
                      <a:pt x="115437" y="333"/>
                      <a:pt x="112377" y="0"/>
                      <a:pt x="109482" y="727"/>
                    </a:cubicBezTo>
                    <a:lnTo>
                      <a:pt x="9470" y="25730"/>
                    </a:lnTo>
                    <a:cubicBezTo>
                      <a:pt x="3905" y="27121"/>
                      <a:pt x="1" y="32121"/>
                      <a:pt x="0" y="37857"/>
                    </a:cubicBezTo>
                    <a:lnTo>
                      <a:pt x="0" y="262884"/>
                    </a:lnTo>
                    <a:cubicBezTo>
                      <a:pt x="1" y="266734"/>
                      <a:pt x="1774" y="270368"/>
                      <a:pt x="4808" y="272737"/>
                    </a:cubicBezTo>
                    <a:cubicBezTo>
                      <a:pt x="7843" y="275105"/>
                      <a:pt x="11799" y="275944"/>
                      <a:pt x="15533" y="275011"/>
                    </a:cubicBezTo>
                    <a:lnTo>
                      <a:pt x="111060" y="251133"/>
                    </a:lnTo>
                    <a:lnTo>
                      <a:pt x="206931" y="299076"/>
                    </a:lnTo>
                    <a:cubicBezTo>
                      <a:pt x="208672" y="299934"/>
                      <a:pt x="210585" y="300383"/>
                      <a:pt x="212526" y="300389"/>
                    </a:cubicBezTo>
                    <a:cubicBezTo>
                      <a:pt x="213548" y="300388"/>
                      <a:pt x="214566" y="300262"/>
                      <a:pt x="215558" y="300014"/>
                    </a:cubicBezTo>
                    <a:lnTo>
                      <a:pt x="315570" y="275011"/>
                    </a:lnTo>
                    <a:cubicBezTo>
                      <a:pt x="321135" y="273620"/>
                      <a:pt x="325039" y="268620"/>
                      <a:pt x="325040" y="262884"/>
                    </a:cubicBezTo>
                    <a:lnTo>
                      <a:pt x="325040" y="37857"/>
                    </a:lnTo>
                    <a:cubicBezTo>
                      <a:pt x="325040" y="34004"/>
                      <a:pt x="323265" y="30366"/>
                      <a:pt x="320227" y="27996"/>
                    </a:cubicBezTo>
                    <a:close/>
                    <a:moveTo>
                      <a:pt x="125015" y="33075"/>
                    </a:moveTo>
                    <a:lnTo>
                      <a:pt x="200024" y="70580"/>
                    </a:lnTo>
                    <a:lnTo>
                      <a:pt x="200024" y="267666"/>
                    </a:lnTo>
                    <a:lnTo>
                      <a:pt x="125015" y="230162"/>
                    </a:lnTo>
                    <a:close/>
                    <a:moveTo>
                      <a:pt x="25003" y="47624"/>
                    </a:moveTo>
                    <a:lnTo>
                      <a:pt x="100012" y="28871"/>
                    </a:lnTo>
                    <a:lnTo>
                      <a:pt x="100012" y="228114"/>
                    </a:lnTo>
                    <a:lnTo>
                      <a:pt x="25003" y="246867"/>
                    </a:lnTo>
                    <a:close/>
                    <a:moveTo>
                      <a:pt x="300037" y="253117"/>
                    </a:moveTo>
                    <a:lnTo>
                      <a:pt x="225027" y="271870"/>
                    </a:lnTo>
                    <a:lnTo>
                      <a:pt x="225027" y="72627"/>
                    </a:lnTo>
                    <a:lnTo>
                      <a:pt x="300037" y="538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00506" y="5139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交互地图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1009650" y="5467350"/>
              <a:ext cx="1123950" cy="9525"/>
            </a:xfrm>
            <a:custGeom>
              <a:avLst/>
              <a:gdLst/>
              <a:ahLst/>
              <a:cxnLst/>
              <a:rect l="l" t="t" r="r" b="b"/>
              <a:pathLst>
                <a:path w="1123950" h="9525">
                  <a:moveTo>
                    <a:pt x="0" y="0"/>
                  </a:moveTo>
                  <a:lnTo>
                    <a:pt x="11239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812256" y="4780955"/>
            <a:ext cx="1816894" cy="386929"/>
            <a:chOff x="2812256" y="4780955"/>
            <a:chExt cx="1816894" cy="386929"/>
          </a:xfrm>
        </p:grpSpPr>
        <p:grpSp>
          <p:nvGrpSpPr>
            <p:cNvPr id="52" name="Group 52"/>
            <p:cNvGrpSpPr/>
            <p:nvPr/>
          </p:nvGrpSpPr>
          <p:grpSpPr>
            <a:xfrm>
              <a:off x="2812256" y="4780955"/>
              <a:ext cx="300037" cy="325040"/>
              <a:chOff x="2812256" y="4780955"/>
              <a:chExt cx="300037" cy="32504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2824758" y="4793456"/>
                <a:ext cx="275034" cy="150018"/>
              </a:xfrm>
              <a:custGeom>
                <a:avLst/>
                <a:gdLst/>
                <a:ahLst/>
                <a:cxnLst/>
                <a:rect l="l" t="t" r="r" b="b"/>
                <a:pathLst>
                  <a:path w="275034" h="150018">
                    <a:moveTo>
                      <a:pt x="275034" y="75009"/>
                    </a:moveTo>
                    <a:cubicBezTo>
                      <a:pt x="275034" y="116436"/>
                      <a:pt x="213464" y="150018"/>
                      <a:pt x="137517" y="150018"/>
                    </a:cubicBezTo>
                    <a:cubicBezTo>
                      <a:pt x="61570" y="150018"/>
                      <a:pt x="0" y="116436"/>
                      <a:pt x="0" y="75009"/>
                    </a:cubicBezTo>
                    <a:cubicBezTo>
                      <a:pt x="0" y="33582"/>
                      <a:pt x="61570" y="0"/>
                      <a:pt x="137517" y="0"/>
                    </a:cubicBezTo>
                    <a:cubicBezTo>
                      <a:pt x="213464" y="0"/>
                      <a:pt x="275034" y="33582"/>
                      <a:pt x="275034" y="75009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2812256" y="4780955"/>
                <a:ext cx="300037" cy="325040"/>
              </a:xfrm>
              <a:custGeom>
                <a:avLst/>
                <a:gdLst/>
                <a:ahLst/>
                <a:cxnLst/>
                <a:rect l="l" t="t" r="r" b="b"/>
                <a:pathLst>
                  <a:path w="300037" h="325040">
                    <a:moveTo>
                      <a:pt x="150018" y="0"/>
                    </a:moveTo>
                    <a:cubicBezTo>
                      <a:pt x="65899" y="0"/>
                      <a:pt x="0" y="38442"/>
                      <a:pt x="0" y="87511"/>
                    </a:cubicBezTo>
                    <a:lnTo>
                      <a:pt x="0" y="237529"/>
                    </a:lnTo>
                    <a:cubicBezTo>
                      <a:pt x="0" y="286597"/>
                      <a:pt x="65899" y="325040"/>
                      <a:pt x="150018" y="325040"/>
                    </a:cubicBezTo>
                    <a:cubicBezTo>
                      <a:pt x="234138" y="325040"/>
                      <a:pt x="300037" y="286597"/>
                      <a:pt x="300037" y="237529"/>
                    </a:cubicBezTo>
                    <a:lnTo>
                      <a:pt x="300037" y="87511"/>
                    </a:lnTo>
                    <a:cubicBezTo>
                      <a:pt x="300037" y="38442"/>
                      <a:pt x="234138" y="0"/>
                      <a:pt x="150018" y="0"/>
                    </a:cubicBezTo>
                    <a:close/>
                    <a:moveTo>
                      <a:pt x="275034" y="162520"/>
                    </a:moveTo>
                    <a:cubicBezTo>
                      <a:pt x="275034" y="177553"/>
                      <a:pt x="262720" y="192883"/>
                      <a:pt x="241264" y="204587"/>
                    </a:cubicBezTo>
                    <a:cubicBezTo>
                      <a:pt x="217105" y="217761"/>
                      <a:pt x="184694" y="225027"/>
                      <a:pt x="150018" y="225027"/>
                    </a:cubicBezTo>
                    <a:cubicBezTo>
                      <a:pt x="115342" y="225027"/>
                      <a:pt x="82932" y="217761"/>
                      <a:pt x="58773" y="204587"/>
                    </a:cubicBezTo>
                    <a:cubicBezTo>
                      <a:pt x="37317" y="192883"/>
                      <a:pt x="25003" y="177553"/>
                      <a:pt x="25003" y="162520"/>
                    </a:cubicBezTo>
                    <a:lnTo>
                      <a:pt x="25003" y="136517"/>
                    </a:lnTo>
                    <a:cubicBezTo>
                      <a:pt x="51663" y="159957"/>
                      <a:pt x="97246" y="175021"/>
                      <a:pt x="150018" y="175021"/>
                    </a:cubicBezTo>
                    <a:cubicBezTo>
                      <a:pt x="202790" y="175021"/>
                      <a:pt x="248374" y="159894"/>
                      <a:pt x="275034" y="136517"/>
                    </a:cubicBezTo>
                    <a:close/>
                    <a:moveTo>
                      <a:pt x="58773" y="45443"/>
                    </a:moveTo>
                    <a:cubicBezTo>
                      <a:pt x="82932" y="32270"/>
                      <a:pt x="115342" y="25003"/>
                      <a:pt x="150018" y="25003"/>
                    </a:cubicBezTo>
                    <a:cubicBezTo>
                      <a:pt x="184694" y="25003"/>
                      <a:pt x="217105" y="32270"/>
                      <a:pt x="241264" y="45443"/>
                    </a:cubicBezTo>
                    <a:cubicBezTo>
                      <a:pt x="262720" y="57148"/>
                      <a:pt x="275034" y="72478"/>
                      <a:pt x="275034" y="87511"/>
                    </a:cubicBezTo>
                    <a:cubicBezTo>
                      <a:pt x="275034" y="102544"/>
                      <a:pt x="262720" y="117874"/>
                      <a:pt x="241264" y="129578"/>
                    </a:cubicBezTo>
                    <a:cubicBezTo>
                      <a:pt x="217105" y="142752"/>
                      <a:pt x="184694" y="150018"/>
                      <a:pt x="150018" y="150018"/>
                    </a:cubicBezTo>
                    <a:cubicBezTo>
                      <a:pt x="115342" y="150018"/>
                      <a:pt x="82932" y="142752"/>
                      <a:pt x="58773" y="129578"/>
                    </a:cubicBezTo>
                    <a:cubicBezTo>
                      <a:pt x="37317" y="117874"/>
                      <a:pt x="25003" y="102544"/>
                      <a:pt x="25003" y="87511"/>
                    </a:cubicBezTo>
                    <a:cubicBezTo>
                      <a:pt x="25003" y="72478"/>
                      <a:pt x="37317" y="57148"/>
                      <a:pt x="58773" y="45443"/>
                    </a:cubicBezTo>
                    <a:close/>
                    <a:moveTo>
                      <a:pt x="241264" y="279597"/>
                    </a:moveTo>
                    <a:cubicBezTo>
                      <a:pt x="217105" y="292770"/>
                      <a:pt x="184694" y="300037"/>
                      <a:pt x="150018" y="300037"/>
                    </a:cubicBezTo>
                    <a:cubicBezTo>
                      <a:pt x="115342" y="300037"/>
                      <a:pt x="82932" y="292770"/>
                      <a:pt x="58773" y="279597"/>
                    </a:cubicBezTo>
                    <a:cubicBezTo>
                      <a:pt x="37317" y="267892"/>
                      <a:pt x="25003" y="252562"/>
                      <a:pt x="25003" y="237529"/>
                    </a:cubicBezTo>
                    <a:lnTo>
                      <a:pt x="25003" y="211526"/>
                    </a:lnTo>
                    <a:cubicBezTo>
                      <a:pt x="51663" y="234966"/>
                      <a:pt x="97246" y="250030"/>
                      <a:pt x="150018" y="250030"/>
                    </a:cubicBezTo>
                    <a:cubicBezTo>
                      <a:pt x="202790" y="250030"/>
                      <a:pt x="248374" y="234904"/>
                      <a:pt x="275034" y="211526"/>
                    </a:cubicBezTo>
                    <a:lnTo>
                      <a:pt x="275034" y="237529"/>
                    </a:lnTo>
                    <a:cubicBezTo>
                      <a:pt x="275034" y="252562"/>
                      <a:pt x="262720" y="267892"/>
                      <a:pt x="241264" y="2795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3267456" y="48158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标准数据库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3276600" y="5143500"/>
              <a:ext cx="1352550" cy="9525"/>
            </a:xfrm>
            <a:custGeom>
              <a:avLst/>
              <a:gdLst/>
              <a:ahLst/>
              <a:cxnLst/>
              <a:rect l="l" t="t" r="r" b="b"/>
              <a:pathLst>
                <a:path w="1352550" h="9525">
                  <a:moveTo>
                    <a:pt x="0" y="0"/>
                  </a:moveTo>
                  <a:lnTo>
                    <a:pt x="13525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5022056" y="4634508"/>
            <a:ext cx="2000079" cy="361926"/>
            <a:chOff x="5022056" y="4634508"/>
            <a:chExt cx="2000079" cy="361926"/>
          </a:xfrm>
        </p:grpSpPr>
        <p:grpSp>
          <p:nvGrpSpPr>
            <p:cNvPr id="58" name="Group 58"/>
            <p:cNvGrpSpPr/>
            <p:nvPr/>
          </p:nvGrpSpPr>
          <p:grpSpPr>
            <a:xfrm>
              <a:off x="5022056" y="4634508"/>
              <a:ext cx="300037" cy="312964"/>
              <a:chOff x="5022056" y="4634508"/>
              <a:chExt cx="300037" cy="312964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5034558" y="4647009"/>
                <a:ext cx="275034" cy="287723"/>
              </a:xfrm>
              <a:custGeom>
                <a:avLst/>
                <a:gdLst/>
                <a:ahLst/>
                <a:cxnLst/>
                <a:rect l="l" t="t" r="r" b="b"/>
                <a:pathLst>
                  <a:path w="275034" h="287723">
                    <a:moveTo>
                      <a:pt x="275034" y="12502"/>
                    </a:moveTo>
                    <a:lnTo>
                      <a:pt x="275034" y="104341"/>
                    </a:lnTo>
                    <a:cubicBezTo>
                      <a:pt x="275034" y="235888"/>
                      <a:pt x="163598" y="279472"/>
                      <a:pt x="141361" y="286863"/>
                    </a:cubicBezTo>
                    <a:cubicBezTo>
                      <a:pt x="138870" y="287723"/>
                      <a:pt x="136163" y="287723"/>
                      <a:pt x="133673" y="286863"/>
                    </a:cubicBezTo>
                    <a:cubicBezTo>
                      <a:pt x="111435" y="279503"/>
                      <a:pt x="0" y="235966"/>
                      <a:pt x="0" y="104372"/>
                    </a:cubicBezTo>
                    <a:lnTo>
                      <a:pt x="0" y="12502"/>
                    </a:lnTo>
                    <a:cubicBezTo>
                      <a:pt x="0" y="5597"/>
                      <a:pt x="5597" y="0"/>
                      <a:pt x="12502" y="0"/>
                    </a:cubicBezTo>
                    <a:lnTo>
                      <a:pt x="262532" y="0"/>
                    </a:lnTo>
                    <a:cubicBezTo>
                      <a:pt x="269436" y="0"/>
                      <a:pt x="275034" y="5597"/>
                      <a:pt x="275034" y="12502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022056" y="4634508"/>
                <a:ext cx="300037" cy="312964"/>
              </a:xfrm>
              <a:custGeom>
                <a:avLst/>
                <a:gdLst/>
                <a:ahLst/>
                <a:cxnLst/>
                <a:rect l="l" t="t" r="r" b="b"/>
                <a:pathLst>
                  <a:path w="300037" h="312964">
                    <a:moveTo>
                      <a:pt x="275034" y="0"/>
                    </a:moveTo>
                    <a:lnTo>
                      <a:pt x="25003" y="0"/>
                    </a:lnTo>
                    <a:cubicBezTo>
                      <a:pt x="11194" y="0"/>
                      <a:pt x="0" y="11194"/>
                      <a:pt x="0" y="25003"/>
                    </a:cubicBezTo>
                    <a:lnTo>
                      <a:pt x="0" y="116858"/>
                    </a:lnTo>
                    <a:cubicBezTo>
                      <a:pt x="0" y="256891"/>
                      <a:pt x="118483" y="303349"/>
                      <a:pt x="142205" y="311241"/>
                    </a:cubicBezTo>
                    <a:cubicBezTo>
                      <a:pt x="147271" y="312964"/>
                      <a:pt x="152765" y="312964"/>
                      <a:pt x="157832" y="311241"/>
                    </a:cubicBezTo>
                    <a:cubicBezTo>
                      <a:pt x="181585" y="303349"/>
                      <a:pt x="300037" y="256891"/>
                      <a:pt x="300037" y="116858"/>
                    </a:cubicBezTo>
                    <a:lnTo>
                      <a:pt x="300037" y="25003"/>
                    </a:lnTo>
                    <a:cubicBezTo>
                      <a:pt x="300037" y="11194"/>
                      <a:pt x="288842" y="0"/>
                      <a:pt x="275034" y="0"/>
                    </a:cubicBezTo>
                    <a:close/>
                    <a:moveTo>
                      <a:pt x="275034" y="116874"/>
                    </a:moveTo>
                    <a:cubicBezTo>
                      <a:pt x="275034" y="239420"/>
                      <a:pt x="171349" y="280362"/>
                      <a:pt x="150018" y="287488"/>
                    </a:cubicBezTo>
                    <a:cubicBezTo>
                      <a:pt x="128875" y="280440"/>
                      <a:pt x="25003" y="239529"/>
                      <a:pt x="25003" y="116874"/>
                    </a:cubicBezTo>
                    <a:lnTo>
                      <a:pt x="25003" y="25003"/>
                    </a:lnTo>
                    <a:lnTo>
                      <a:pt x="275034" y="25003"/>
                    </a:lnTo>
                    <a:close/>
                    <a:moveTo>
                      <a:pt x="78666" y="158863"/>
                    </a:moveTo>
                    <a:cubicBezTo>
                      <a:pt x="73781" y="153978"/>
                      <a:pt x="73781" y="146058"/>
                      <a:pt x="78666" y="141173"/>
                    </a:cubicBezTo>
                    <a:cubicBezTo>
                      <a:pt x="83551" y="136289"/>
                      <a:pt x="91471" y="136289"/>
                      <a:pt x="96355" y="141173"/>
                    </a:cubicBezTo>
                    <a:lnTo>
                      <a:pt x="125015" y="169833"/>
                    </a:lnTo>
                    <a:lnTo>
                      <a:pt x="203681" y="91167"/>
                    </a:lnTo>
                    <a:cubicBezTo>
                      <a:pt x="208566" y="86283"/>
                      <a:pt x="216486" y="86283"/>
                      <a:pt x="221371" y="91167"/>
                    </a:cubicBezTo>
                    <a:cubicBezTo>
                      <a:pt x="226256" y="96052"/>
                      <a:pt x="226256" y="103972"/>
                      <a:pt x="221371" y="108857"/>
                    </a:cubicBezTo>
                    <a:lnTo>
                      <a:pt x="133860" y="196368"/>
                    </a:lnTo>
                    <a:cubicBezTo>
                      <a:pt x="131515" y="198715"/>
                      <a:pt x="128333" y="200034"/>
                      <a:pt x="125015" y="200034"/>
                    </a:cubicBezTo>
                    <a:cubicBezTo>
                      <a:pt x="121697" y="200034"/>
                      <a:pt x="118515" y="198715"/>
                      <a:pt x="116170" y="19636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477256" y="46443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来源与置信度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5486400" y="4972050"/>
              <a:ext cx="1504950" cy="9525"/>
            </a:xfrm>
            <a:custGeom>
              <a:avLst/>
              <a:gdLst/>
              <a:ahLst/>
              <a:cxnLst/>
              <a:rect l="l" t="t" r="r" b="b"/>
              <a:pathLst>
                <a:path w="1504950" h="9525">
                  <a:moveTo>
                    <a:pt x="0" y="0"/>
                  </a:moveTo>
                  <a:lnTo>
                    <a:pt x="15049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7356935" y="4766041"/>
            <a:ext cx="1691815" cy="401843"/>
            <a:chOff x="7356935" y="4766041"/>
            <a:chExt cx="1691815" cy="401843"/>
          </a:xfrm>
        </p:grpSpPr>
        <p:grpSp>
          <p:nvGrpSpPr>
            <p:cNvPr id="64" name="Group 64"/>
            <p:cNvGrpSpPr/>
            <p:nvPr/>
          </p:nvGrpSpPr>
          <p:grpSpPr>
            <a:xfrm>
              <a:off x="7356935" y="4766041"/>
              <a:ext cx="352400" cy="354867"/>
              <a:chOff x="7356935" y="4766041"/>
              <a:chExt cx="352400" cy="354867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71909" y="4781031"/>
                <a:ext cx="326106" cy="324887"/>
              </a:xfrm>
              <a:custGeom>
                <a:avLst/>
                <a:gdLst/>
                <a:ahLst/>
                <a:cxnLst/>
                <a:rect l="l" t="t" r="r" b="b"/>
                <a:pathLst>
                  <a:path w="326106" h="324887">
                    <a:moveTo>
                      <a:pt x="321244" y="171226"/>
                    </a:moveTo>
                    <a:lnTo>
                      <a:pt x="171226" y="321244"/>
                    </a:lnTo>
                    <a:cubicBezTo>
                      <a:pt x="168898" y="323576"/>
                      <a:pt x="165738" y="324887"/>
                      <a:pt x="162443" y="324887"/>
                    </a:cubicBezTo>
                    <a:cubicBezTo>
                      <a:pt x="159148" y="324887"/>
                      <a:pt x="155989" y="323576"/>
                      <a:pt x="153661" y="321244"/>
                    </a:cubicBezTo>
                    <a:lnTo>
                      <a:pt x="3643" y="171226"/>
                    </a:lnTo>
                    <a:cubicBezTo>
                      <a:pt x="1311" y="168898"/>
                      <a:pt x="0" y="165738"/>
                      <a:pt x="0" y="162443"/>
                    </a:cubicBezTo>
                    <a:cubicBezTo>
                      <a:pt x="0" y="159148"/>
                      <a:pt x="1311" y="155989"/>
                      <a:pt x="3643" y="153661"/>
                    </a:cubicBezTo>
                    <a:lnTo>
                      <a:pt x="153739" y="3643"/>
                    </a:lnTo>
                    <a:cubicBezTo>
                      <a:pt x="156067" y="1311"/>
                      <a:pt x="159227" y="0"/>
                      <a:pt x="162522" y="0"/>
                    </a:cubicBezTo>
                    <a:cubicBezTo>
                      <a:pt x="165817" y="0"/>
                      <a:pt x="168976" y="1311"/>
                      <a:pt x="171304" y="3643"/>
                    </a:cubicBezTo>
                    <a:lnTo>
                      <a:pt x="321322" y="153739"/>
                    </a:lnTo>
                    <a:cubicBezTo>
                      <a:pt x="326106" y="158599"/>
                      <a:pt x="326071" y="166409"/>
                      <a:pt x="321244" y="17122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356935" y="4766041"/>
                <a:ext cx="352400" cy="354867"/>
              </a:xfrm>
              <a:custGeom>
                <a:avLst/>
                <a:gdLst/>
                <a:ahLst/>
                <a:cxnLst/>
                <a:rect l="l" t="t" r="r" b="b"/>
                <a:pathLst>
                  <a:path w="352400" h="354867">
                    <a:moveTo>
                      <a:pt x="177340" y="89923"/>
                    </a:moveTo>
                    <a:cubicBezTo>
                      <a:pt x="184244" y="89923"/>
                      <a:pt x="189841" y="95520"/>
                      <a:pt x="189841" y="102424"/>
                    </a:cubicBezTo>
                    <a:lnTo>
                      <a:pt x="189841" y="189935"/>
                    </a:lnTo>
                    <a:cubicBezTo>
                      <a:pt x="189841" y="196839"/>
                      <a:pt x="184244" y="202437"/>
                      <a:pt x="177340" y="202437"/>
                    </a:cubicBezTo>
                    <a:cubicBezTo>
                      <a:pt x="170435" y="202437"/>
                      <a:pt x="164838" y="196839"/>
                      <a:pt x="164838" y="189935"/>
                    </a:cubicBezTo>
                    <a:lnTo>
                      <a:pt x="164838" y="102424"/>
                    </a:lnTo>
                    <a:cubicBezTo>
                      <a:pt x="164838" y="95520"/>
                      <a:pt x="170435" y="89923"/>
                      <a:pt x="177340" y="89923"/>
                    </a:cubicBezTo>
                    <a:close/>
                    <a:moveTo>
                      <a:pt x="158587" y="246192"/>
                    </a:moveTo>
                    <a:cubicBezTo>
                      <a:pt x="158587" y="256548"/>
                      <a:pt x="166983" y="264944"/>
                      <a:pt x="177340" y="264944"/>
                    </a:cubicBezTo>
                    <a:cubicBezTo>
                      <a:pt x="187696" y="264944"/>
                      <a:pt x="196092" y="256548"/>
                      <a:pt x="196092" y="246192"/>
                    </a:cubicBezTo>
                    <a:cubicBezTo>
                      <a:pt x="196092" y="235835"/>
                      <a:pt x="187696" y="227440"/>
                      <a:pt x="177340" y="227440"/>
                    </a:cubicBezTo>
                    <a:cubicBezTo>
                      <a:pt x="166983" y="227440"/>
                      <a:pt x="158587" y="235835"/>
                      <a:pt x="158587" y="246192"/>
                    </a:cubicBezTo>
                    <a:close/>
                    <a:moveTo>
                      <a:pt x="352361" y="177433"/>
                    </a:moveTo>
                    <a:cubicBezTo>
                      <a:pt x="352380" y="184048"/>
                      <a:pt x="349752" y="190395"/>
                      <a:pt x="345063" y="195061"/>
                    </a:cubicBezTo>
                    <a:lnTo>
                      <a:pt x="194967" y="345173"/>
                    </a:lnTo>
                    <a:cubicBezTo>
                      <a:pt x="185215" y="354867"/>
                      <a:pt x="169465" y="354867"/>
                      <a:pt x="159713" y="345173"/>
                    </a:cubicBezTo>
                    <a:lnTo>
                      <a:pt x="159713" y="345173"/>
                    </a:lnTo>
                    <a:lnTo>
                      <a:pt x="9694" y="195061"/>
                    </a:lnTo>
                    <a:cubicBezTo>
                      <a:pt x="0" y="185308"/>
                      <a:pt x="0" y="169558"/>
                      <a:pt x="9694" y="159806"/>
                    </a:cubicBezTo>
                    <a:lnTo>
                      <a:pt x="159791" y="9694"/>
                    </a:lnTo>
                    <a:cubicBezTo>
                      <a:pt x="169543" y="0"/>
                      <a:pt x="185293" y="0"/>
                      <a:pt x="195045" y="9694"/>
                    </a:cubicBezTo>
                    <a:lnTo>
                      <a:pt x="345141" y="159806"/>
                    </a:lnTo>
                    <a:cubicBezTo>
                      <a:pt x="349801" y="164485"/>
                      <a:pt x="352400" y="170830"/>
                      <a:pt x="352361" y="177433"/>
                    </a:cubicBezTo>
                    <a:close/>
                    <a:moveTo>
                      <a:pt x="327358" y="177433"/>
                    </a:moveTo>
                    <a:lnTo>
                      <a:pt x="177340" y="27415"/>
                    </a:lnTo>
                    <a:lnTo>
                      <a:pt x="27321" y="177433"/>
                    </a:lnTo>
                    <a:lnTo>
                      <a:pt x="177340" y="327452"/>
                    </a:lnTo>
                    <a:lnTo>
                      <a:pt x="177340" y="32745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839456" y="4815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异常结果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7848600" y="5143500"/>
              <a:ext cx="1200150" cy="9525"/>
            </a:xfrm>
            <a:custGeom>
              <a:avLst/>
              <a:gdLst/>
              <a:ahLst/>
              <a:cxnLst/>
              <a:rect l="l" t="t" r="r" b="b"/>
              <a:pathLst>
                <a:path w="1200150" h="9525">
                  <a:moveTo>
                    <a:pt x="0" y="0"/>
                  </a:moveTo>
                  <a:lnTo>
                    <a:pt x="12001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9657755" y="5104805"/>
            <a:ext cx="1943695" cy="386929"/>
            <a:chOff x="9657755" y="5104805"/>
            <a:chExt cx="1943695" cy="386929"/>
          </a:xfrm>
        </p:grpSpPr>
        <p:grpSp>
          <p:nvGrpSpPr>
            <p:cNvPr id="70" name="Group 70"/>
            <p:cNvGrpSpPr/>
            <p:nvPr/>
          </p:nvGrpSpPr>
          <p:grpSpPr>
            <a:xfrm>
              <a:off x="9657755" y="5104805"/>
              <a:ext cx="325040" cy="325040"/>
              <a:chOff x="9657755" y="5104805"/>
              <a:chExt cx="325040" cy="32504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9670256" y="5117306"/>
                <a:ext cx="300037" cy="300037"/>
              </a:xfrm>
              <a:custGeom>
                <a:avLst/>
                <a:gdLst/>
                <a:ahLst/>
                <a:cxnLst/>
                <a:rect l="l" t="t" r="r" b="b"/>
                <a:pathLst>
                  <a:path w="300037" h="300037">
                    <a:moveTo>
                      <a:pt x="300037" y="150018"/>
                    </a:moveTo>
                    <a:cubicBezTo>
                      <a:pt x="300037" y="232871"/>
                      <a:pt x="232871" y="300037"/>
                      <a:pt x="150018" y="300037"/>
                    </a:cubicBezTo>
                    <a:cubicBezTo>
                      <a:pt x="67165" y="300037"/>
                      <a:pt x="0" y="232871"/>
                      <a:pt x="0" y="150018"/>
                    </a:cubicBezTo>
                    <a:cubicBezTo>
                      <a:pt x="0" y="67165"/>
                      <a:pt x="67165" y="0"/>
                      <a:pt x="150018" y="0"/>
                    </a:cubicBezTo>
                    <a:cubicBezTo>
                      <a:pt x="232871" y="0"/>
                      <a:pt x="300037" y="67165"/>
                      <a:pt x="300037" y="150018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657755" y="5104805"/>
                <a:ext cx="325040" cy="325040"/>
              </a:xfrm>
              <a:custGeom>
                <a:avLst/>
                <a:gdLst/>
                <a:ahLst/>
                <a:cxnLst/>
                <a:rect l="l" t="t" r="r" b="b"/>
                <a:pathLst>
                  <a:path w="325040" h="325040">
                    <a:moveTo>
                      <a:pt x="233872" y="116170"/>
                    </a:moveTo>
                    <a:cubicBezTo>
                      <a:pt x="236220" y="118515"/>
                      <a:pt x="237539" y="121697"/>
                      <a:pt x="237539" y="125015"/>
                    </a:cubicBezTo>
                    <a:cubicBezTo>
                      <a:pt x="237539" y="128333"/>
                      <a:pt x="236220" y="131515"/>
                      <a:pt x="233872" y="133860"/>
                    </a:cubicBezTo>
                    <a:lnTo>
                      <a:pt x="146362" y="221371"/>
                    </a:lnTo>
                    <a:cubicBezTo>
                      <a:pt x="144017" y="223718"/>
                      <a:pt x="140835" y="225037"/>
                      <a:pt x="137517" y="225037"/>
                    </a:cubicBezTo>
                    <a:cubicBezTo>
                      <a:pt x="134199" y="225037"/>
                      <a:pt x="131017" y="223718"/>
                      <a:pt x="128672" y="221371"/>
                    </a:cubicBezTo>
                    <a:lnTo>
                      <a:pt x="91167" y="183866"/>
                    </a:lnTo>
                    <a:cubicBezTo>
                      <a:pt x="86283" y="178981"/>
                      <a:pt x="86283" y="171061"/>
                      <a:pt x="91167" y="166177"/>
                    </a:cubicBezTo>
                    <a:cubicBezTo>
                      <a:pt x="96052" y="161292"/>
                      <a:pt x="103972" y="161292"/>
                      <a:pt x="108857" y="166177"/>
                    </a:cubicBezTo>
                    <a:lnTo>
                      <a:pt x="137517" y="194852"/>
                    </a:lnTo>
                    <a:lnTo>
                      <a:pt x="216183" y="116170"/>
                    </a:lnTo>
                    <a:cubicBezTo>
                      <a:pt x="218527" y="113823"/>
                      <a:pt x="221709" y="112504"/>
                      <a:pt x="225027" y="112504"/>
                    </a:cubicBezTo>
                    <a:cubicBezTo>
                      <a:pt x="228345" y="112504"/>
                      <a:pt x="231527" y="113823"/>
                      <a:pt x="233872" y="116170"/>
                    </a:cubicBezTo>
                    <a:close/>
                    <a:moveTo>
                      <a:pt x="325040" y="162520"/>
                    </a:moveTo>
                    <a:cubicBezTo>
                      <a:pt x="325040" y="252277"/>
                      <a:pt x="252277" y="325040"/>
                      <a:pt x="162520" y="325040"/>
                    </a:cubicBezTo>
                    <a:cubicBezTo>
                      <a:pt x="72763" y="325040"/>
                      <a:pt x="0" y="252277"/>
                      <a:pt x="0" y="162520"/>
                    </a:cubicBezTo>
                    <a:cubicBezTo>
                      <a:pt x="0" y="72763"/>
                      <a:pt x="72763" y="0"/>
                      <a:pt x="162520" y="0"/>
                    </a:cubicBezTo>
                    <a:cubicBezTo>
                      <a:pt x="252238" y="95"/>
                      <a:pt x="324945" y="72802"/>
                      <a:pt x="325040" y="162520"/>
                    </a:cubicBezTo>
                    <a:close/>
                    <a:moveTo>
                      <a:pt x="300037" y="162520"/>
                    </a:moveTo>
                    <a:cubicBezTo>
                      <a:pt x="300037" y="86571"/>
                      <a:pt x="238468" y="25003"/>
                      <a:pt x="162520" y="25003"/>
                    </a:cubicBezTo>
                    <a:cubicBezTo>
                      <a:pt x="86571" y="25003"/>
                      <a:pt x="25003" y="86571"/>
                      <a:pt x="25003" y="162520"/>
                    </a:cubicBezTo>
                    <a:cubicBezTo>
                      <a:pt x="25003" y="238468"/>
                      <a:pt x="86571" y="300037"/>
                      <a:pt x="162520" y="300037"/>
                    </a:cubicBezTo>
                    <a:cubicBezTo>
                      <a:pt x="238433" y="299950"/>
                      <a:pt x="299950" y="238433"/>
                      <a:pt x="300037" y="16252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125456" y="5139690"/>
              <a:ext cx="13820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可复用 Skill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10134600" y="5467350"/>
              <a:ext cx="1466850" cy="9525"/>
            </a:xfrm>
            <a:custGeom>
              <a:avLst/>
              <a:gdLst/>
              <a:ahLst/>
              <a:cxnLst/>
              <a:rect l="l" t="t" r="r" b="b"/>
              <a:pathLst>
                <a:path w="1466850" h="9525">
                  <a:moveTo>
                    <a:pt x="0" y="0"/>
                  </a:moveTo>
                  <a:lnTo>
                    <a:pt x="146685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838200" y="6153150"/>
            <a:ext cx="10515600" cy="521017"/>
            <a:chOff x="838200" y="6153150"/>
            <a:chExt cx="10515600" cy="521017"/>
          </a:xfrm>
        </p:grpSpPr>
        <p:sp>
          <p:nvSpPr>
            <p:cNvPr id="74" name="Line 74"/>
            <p:cNvSpPr/>
            <p:nvPr/>
          </p:nvSpPr>
          <p:spPr>
            <a:xfrm>
              <a:off x="838200" y="6153150"/>
              <a:ext cx="10515600" cy="9525"/>
            </a:xfrm>
            <a:custGeom>
              <a:avLst/>
              <a:gdLst/>
              <a:ahLst/>
              <a:cxnLst/>
              <a:rect l="l" t="t" r="r" b="b"/>
              <a:pathLst>
                <a:path w="10515600" h="9525">
                  <a:moveTo>
                    <a:pt x="0" y="0"/>
                  </a:moveTo>
                  <a:lnTo>
                    <a:pt x="10515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538487" y="6234112"/>
              <a:ext cx="71150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高自由度交给 Agent，科学红线交给可测试代码。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4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4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4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xmlns:p="http://schemas.openxmlformats.org/presentationml/2006/main" id="14" presetID="23" presetClass="entr" presetSubtype="16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4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4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60"/>
                            </p:stCondLst>
                            <p:childTnLst>
                              <p:par>
                                <p:cTn xmlns:p="http://schemas.openxmlformats.org/presentationml/2006/main" id="19" presetID="23" presetClass="entr" presetSubtype="16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4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4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70"/>
                            </p:stCondLst>
                            <p:childTnLst>
                              <p:par>
                                <p:cTn xmlns:p="http://schemas.openxmlformats.org/presentationml/2006/main" id="24" presetID="23" presetClass="entr" presetSubtype="16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4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4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980"/>
                            </p:stCondLst>
                            <p:childTnLst>
                              <p:par>
                                <p:cTn xmlns:p="http://schemas.openxmlformats.org/presentationml/2006/main" id="29" presetID="53" presetClass="entr" presetSubtype="16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4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4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4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90"/>
                            </p:stCondLst>
                            <p:childTnLst>
                              <p:par>
                                <p:cTn xmlns:p="http://schemas.openxmlformats.org/presentationml/2006/main" id="35" presetID="22" presetClass="entr" presetSubtype="4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34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39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4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10"/>
                            </p:stCondLst>
                            <p:childTnLst>
                              <p:par>
                                <p:cTn xmlns:p="http://schemas.openxmlformats.org/presentationml/2006/main" id="43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4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620"/>
                            </p:stCondLst>
                            <p:childTnLst>
                              <p:par>
                                <p:cTn xmlns:p="http://schemas.openxmlformats.org/presentationml/2006/main" id="47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4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30"/>
                            </p:stCondLst>
                            <p:childTnLst>
                              <p:par>
                                <p:cTn xmlns:p="http://schemas.openxmlformats.org/presentationml/2006/main" id="51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4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440"/>
                            </p:stCondLst>
                            <p:childTnLst>
                              <p:par>
                                <p:cTn xmlns:p="http://schemas.openxmlformats.org/presentationml/2006/main" id="55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4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850"/>
                            </p:stCondLst>
                            <p:childTnLst>
                              <p:par>
                                <p:cTn xmlns:p="http://schemas.openxmlformats.org/presentationml/2006/main" id="59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6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1809750"/>
          </a:xfrm>
          <a:prstGeom prst="rect">
            <a:avLst/>
          </a:prstGeom>
          <a:gradFill>
            <a:gsLst>
              <a:gs pos="0">
                <a:schemeClr val="lt1">
                  <a:alpha val="98000"/>
                </a:schemeClr>
              </a:gs>
              <a:gs pos="72000">
                <a:schemeClr val="lt1">
                  <a:alpha val="58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19100" y="300990"/>
            <a:ext cx="5381168" cy="1131570"/>
            <a:chOff x="419100" y="300990"/>
            <a:chExt cx="5381168" cy="1131570"/>
          </a:xfrm>
        </p:grpSpPr>
        <p:sp>
          <p:nvSpPr>
            <p:cNvPr id="4" name="TextBox 4"/>
            <p:cNvSpPr txBox="1"/>
            <p:nvPr/>
          </p:nvSpPr>
          <p:spPr>
            <a:xfrm>
              <a:off x="429006" y="300990"/>
              <a:ext cx="3323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12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02 · REAL RUN / GLOBAL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19100" y="613410"/>
              <a:ext cx="53811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全球视图已经跑起来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63602" y="361950"/>
            <a:ext cx="2665895" cy="430339"/>
            <a:chOff x="9163602" y="361950"/>
            <a:chExt cx="2665895" cy="430339"/>
          </a:xfrm>
        </p:grpSpPr>
        <p:sp>
          <p:nvSpPr>
            <p:cNvPr id="7" name="Rectangle 7"/>
            <p:cNvSpPr/>
            <p:nvPr/>
          </p:nvSpPr>
          <p:spPr>
            <a:xfrm>
              <a:off x="9220200" y="361950"/>
              <a:ext cx="2552700" cy="419100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88000"/>
              </a:schemeClr>
            </a:solidFill>
            <a:ln w="14288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410700" y="514350"/>
              <a:ext cx="114300" cy="114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glow rad="57150">
                <a:srgbClr val="69F5E6">
                  <a:alpha val="42000"/>
                </a:srgbClr>
              </a:glo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9163602" y="469582"/>
              <a:ext cx="26658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REAL RUN · 15 SOURCES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29350" y="1196340"/>
            <a:ext cx="5543550" cy="352044"/>
            <a:chOff x="6229350" y="1196340"/>
            <a:chExt cx="5543550" cy="352044"/>
          </a:xfrm>
        </p:grpSpPr>
        <p:sp>
          <p:nvSpPr>
            <p:cNvPr id="11" name="Line 11"/>
            <p:cNvSpPr/>
            <p:nvPr/>
          </p:nvSpPr>
          <p:spPr>
            <a:xfrm>
              <a:off x="6229350" y="1485900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0" y="0"/>
                  </a:moveTo>
                  <a:lnTo>
                    <a:pt x="5543550" y="0"/>
                  </a:lnTo>
                </a:path>
              </a:pathLst>
            </a:custGeom>
            <a:noFill/>
            <a:ln w="14288">
              <a:solidFill>
                <a:schemeClr val="accent1">
                  <a:alpha val="60000"/>
                </a:schemeClr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29756" y="1196340"/>
              <a:ext cx="51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MAP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8456" y="1196340"/>
              <a:ext cx="12011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DATABASE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06256" y="1196340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SOURCES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35006" y="1196340"/>
              <a:ext cx="1389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ANOMALIES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3390900"/>
            <a:ext cx="4572000" cy="2686050"/>
            <a:chOff x="381000" y="3390900"/>
            <a:chExt cx="4572000" cy="2686050"/>
          </a:xfrm>
        </p:grpSpPr>
        <p:sp>
          <p:nvSpPr>
            <p:cNvPr id="17" name="Rectangle 17"/>
            <p:cNvSpPr/>
            <p:nvPr/>
          </p:nvSpPr>
          <p:spPr>
            <a:xfrm>
              <a:off x="381000" y="3390900"/>
              <a:ext cx="4572000" cy="2686050"/>
            </a:xfrm>
            <a:prstGeom prst="roundRect">
              <a:avLst>
                <a:gd name="adj" fmla="val 5674"/>
              </a:avLst>
            </a:prstGeom>
            <a:gradFill>
              <a:gsLst>
                <a:gs pos="0">
                  <a:schemeClr val="lt1">
                    <a:alpha val="96000"/>
                  </a:schemeClr>
                </a:gs>
                <a:gs pos="100000">
                  <a:schemeClr val="lt2">
                    <a:alpha val="82000"/>
                  </a:schemeClr>
                </a:gs>
              </a:gsLst>
              <a:lin ang="2700000" scaled="1"/>
            </a:gradFill>
            <a:ln w="14288">
              <a:solidFill>
                <a:schemeClr val="accent1">
                  <a:alpha val="65000"/>
                </a:scheme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3587115"/>
              <a:ext cx="3113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75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MAPPED MEASUREMENTS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700" y="3950970"/>
              <a:ext cx="255697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effectLst>
                    <a:glow rad="57150">
                      <a:srgbClr val="69F5E6">
                        <a:alpha val="42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44,510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4370" y="467201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条测定上图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85800" y="5143500"/>
              <a:ext cx="3962400" cy="9525"/>
            </a:xfrm>
            <a:custGeom>
              <a:avLst/>
              <a:gdLst/>
              <a:ahLst/>
              <a:cxnLst/>
              <a:rect l="l" t="t" r="r" b="b"/>
              <a:pathLst>
                <a:path w="3962400" h="9525">
                  <a:moveTo>
                    <a:pt x="0" y="0"/>
                  </a:moveTo>
                  <a:lnTo>
                    <a:pt x="3962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5132" y="5278755"/>
              <a:ext cx="9542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11,548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9656" y="5311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物理样点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94482" y="52787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62706" y="53111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种介质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132" y="5640705"/>
              <a:ext cx="487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535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2456" y="5673090"/>
              <a:ext cx="2514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 high / low 记录候选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19700" y="5067300"/>
            <a:ext cx="6553200" cy="1009650"/>
            <a:chOff x="5219700" y="5067300"/>
            <a:chExt cx="6553200" cy="1009650"/>
          </a:xfrm>
        </p:grpSpPr>
        <p:sp>
          <p:nvSpPr>
            <p:cNvPr id="29" name="Rectangle 29"/>
            <p:cNvSpPr/>
            <p:nvPr/>
          </p:nvSpPr>
          <p:spPr>
            <a:xfrm>
              <a:off x="5219700" y="5067300"/>
              <a:ext cx="6553200" cy="1009650"/>
            </a:xfrm>
            <a:prstGeom prst="roundRect">
              <a:avLst>
                <a:gd name="adj" fmla="val 11321"/>
              </a:avLst>
            </a:prstGeom>
            <a:solidFill>
              <a:schemeClr val="lt1">
                <a:alpha val="90000"/>
              </a:schemeClr>
            </a:solidFill>
            <a:ln w="14288">
              <a:solidFill>
                <a:schemeClr val="accent3">
                  <a:alpha val="72000"/>
                </a:schemeClr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451935" y="5299441"/>
              <a:ext cx="352400" cy="354867"/>
              <a:chOff x="5451935" y="5299441"/>
              <a:chExt cx="352400" cy="35486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466909" y="5314431"/>
                <a:ext cx="326106" cy="324887"/>
              </a:xfrm>
              <a:custGeom>
                <a:avLst/>
                <a:gdLst/>
                <a:ahLst/>
                <a:cxnLst/>
                <a:rect l="l" t="t" r="r" b="b"/>
                <a:pathLst>
                  <a:path w="326106" h="324887">
                    <a:moveTo>
                      <a:pt x="321244" y="171226"/>
                    </a:moveTo>
                    <a:lnTo>
                      <a:pt x="171226" y="321244"/>
                    </a:lnTo>
                    <a:cubicBezTo>
                      <a:pt x="168898" y="323576"/>
                      <a:pt x="165738" y="324887"/>
                      <a:pt x="162443" y="324887"/>
                    </a:cubicBezTo>
                    <a:cubicBezTo>
                      <a:pt x="159148" y="324887"/>
                      <a:pt x="155989" y="323576"/>
                      <a:pt x="153661" y="321244"/>
                    </a:cubicBezTo>
                    <a:lnTo>
                      <a:pt x="3643" y="171226"/>
                    </a:lnTo>
                    <a:cubicBezTo>
                      <a:pt x="1311" y="168898"/>
                      <a:pt x="0" y="165738"/>
                      <a:pt x="0" y="162443"/>
                    </a:cubicBezTo>
                    <a:cubicBezTo>
                      <a:pt x="0" y="159148"/>
                      <a:pt x="1311" y="155989"/>
                      <a:pt x="3643" y="153661"/>
                    </a:cubicBezTo>
                    <a:lnTo>
                      <a:pt x="153739" y="3643"/>
                    </a:lnTo>
                    <a:cubicBezTo>
                      <a:pt x="156067" y="1311"/>
                      <a:pt x="159227" y="0"/>
                      <a:pt x="162522" y="0"/>
                    </a:cubicBezTo>
                    <a:cubicBezTo>
                      <a:pt x="165817" y="0"/>
                      <a:pt x="168976" y="1311"/>
                      <a:pt x="171304" y="3643"/>
                    </a:cubicBezTo>
                    <a:lnTo>
                      <a:pt x="321322" y="153739"/>
                    </a:lnTo>
                    <a:cubicBezTo>
                      <a:pt x="326106" y="158599"/>
                      <a:pt x="326071" y="166409"/>
                      <a:pt x="321244" y="171226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451935" y="5299441"/>
                <a:ext cx="352400" cy="354867"/>
              </a:xfrm>
              <a:custGeom>
                <a:avLst/>
                <a:gdLst/>
                <a:ahLst/>
                <a:cxnLst/>
                <a:rect l="l" t="t" r="r" b="b"/>
                <a:pathLst>
                  <a:path w="352400" h="354867">
                    <a:moveTo>
                      <a:pt x="177340" y="89923"/>
                    </a:moveTo>
                    <a:cubicBezTo>
                      <a:pt x="184244" y="89923"/>
                      <a:pt x="189841" y="95520"/>
                      <a:pt x="189841" y="102424"/>
                    </a:cubicBezTo>
                    <a:lnTo>
                      <a:pt x="189841" y="189935"/>
                    </a:lnTo>
                    <a:cubicBezTo>
                      <a:pt x="189841" y="196839"/>
                      <a:pt x="184244" y="202437"/>
                      <a:pt x="177340" y="202437"/>
                    </a:cubicBezTo>
                    <a:cubicBezTo>
                      <a:pt x="170435" y="202437"/>
                      <a:pt x="164838" y="196839"/>
                      <a:pt x="164838" y="189935"/>
                    </a:cubicBezTo>
                    <a:lnTo>
                      <a:pt x="164838" y="102424"/>
                    </a:lnTo>
                    <a:cubicBezTo>
                      <a:pt x="164838" y="95520"/>
                      <a:pt x="170435" y="89923"/>
                      <a:pt x="177340" y="89923"/>
                    </a:cubicBezTo>
                    <a:close/>
                    <a:moveTo>
                      <a:pt x="158587" y="246192"/>
                    </a:moveTo>
                    <a:cubicBezTo>
                      <a:pt x="158587" y="256548"/>
                      <a:pt x="166983" y="264944"/>
                      <a:pt x="177340" y="264944"/>
                    </a:cubicBezTo>
                    <a:cubicBezTo>
                      <a:pt x="187696" y="264944"/>
                      <a:pt x="196092" y="256548"/>
                      <a:pt x="196092" y="246192"/>
                    </a:cubicBezTo>
                    <a:cubicBezTo>
                      <a:pt x="196092" y="235835"/>
                      <a:pt x="187696" y="227440"/>
                      <a:pt x="177340" y="227440"/>
                    </a:cubicBezTo>
                    <a:cubicBezTo>
                      <a:pt x="166983" y="227440"/>
                      <a:pt x="158587" y="235835"/>
                      <a:pt x="158587" y="246192"/>
                    </a:cubicBezTo>
                    <a:close/>
                    <a:moveTo>
                      <a:pt x="352361" y="177433"/>
                    </a:moveTo>
                    <a:cubicBezTo>
                      <a:pt x="352380" y="184048"/>
                      <a:pt x="349752" y="190395"/>
                      <a:pt x="345063" y="195061"/>
                    </a:cubicBezTo>
                    <a:lnTo>
                      <a:pt x="194967" y="345173"/>
                    </a:lnTo>
                    <a:cubicBezTo>
                      <a:pt x="185215" y="354867"/>
                      <a:pt x="169465" y="354867"/>
                      <a:pt x="159713" y="345173"/>
                    </a:cubicBezTo>
                    <a:lnTo>
                      <a:pt x="159713" y="345173"/>
                    </a:lnTo>
                    <a:lnTo>
                      <a:pt x="9694" y="195061"/>
                    </a:lnTo>
                    <a:cubicBezTo>
                      <a:pt x="0" y="185308"/>
                      <a:pt x="0" y="169558"/>
                      <a:pt x="9694" y="159806"/>
                    </a:cubicBezTo>
                    <a:lnTo>
                      <a:pt x="159791" y="9694"/>
                    </a:lnTo>
                    <a:cubicBezTo>
                      <a:pt x="169543" y="0"/>
                      <a:pt x="185293" y="0"/>
                      <a:pt x="195045" y="9694"/>
                    </a:cubicBezTo>
                    <a:lnTo>
                      <a:pt x="345141" y="159806"/>
                    </a:lnTo>
                    <a:cubicBezTo>
                      <a:pt x="349801" y="164485"/>
                      <a:pt x="352400" y="170830"/>
                      <a:pt x="352361" y="177433"/>
                    </a:cubicBezTo>
                    <a:close/>
                    <a:moveTo>
                      <a:pt x="327358" y="177433"/>
                    </a:moveTo>
                    <a:lnTo>
                      <a:pt x="177340" y="27415"/>
                    </a:lnTo>
                    <a:lnTo>
                      <a:pt x="27321" y="177433"/>
                    </a:lnTo>
                    <a:lnTo>
                      <a:pt x="177340" y="327452"/>
                    </a:lnTo>
                    <a:lnTo>
                      <a:pt x="177340" y="32745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972556" y="521589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热区只表示采样密度，不插值浓度。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72556" y="557784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空白表示覆盖缺口，不代表元素不存在。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74904" y="6286500"/>
            <a:ext cx="11404092" cy="371856"/>
            <a:chOff x="374904" y="6286500"/>
            <a:chExt cx="11404092" cy="371856"/>
          </a:xfrm>
        </p:grpSpPr>
        <p:sp>
          <p:nvSpPr>
            <p:cNvPr id="36" name="Line 36"/>
            <p:cNvSpPr/>
            <p:nvPr/>
          </p:nvSpPr>
          <p:spPr>
            <a:xfrm>
              <a:off x="381000" y="6286500"/>
              <a:ext cx="11391900" cy="9525"/>
            </a:xfrm>
            <a:custGeom>
              <a:avLst/>
              <a:gdLst/>
              <a:ahLst/>
              <a:cxnLst/>
              <a:rect l="l" t="t" r="r" b="b"/>
              <a:pathLst>
                <a:path w="11391900" h="9525">
                  <a:moveTo>
                    <a:pt x="0" y="0"/>
                  </a:moveTo>
                  <a:lnTo>
                    <a:pt x="11391900" y="0"/>
                  </a:lnTo>
                </a:path>
              </a:pathLst>
            </a:custGeom>
            <a:noFill/>
            <a:ln w="952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74904" y="6423660"/>
              <a:ext cx="5873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44,536 canonical records · 26 unmappable records remain in database / QC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5538" y="6423660"/>
              <a:ext cx="3283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expanded global run · screenshot no-crop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2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40"/>
                            </p:stCondLst>
                            <p:childTnLst>
                              <p:par>
                                <p:cTn xmlns:p="http://schemas.openxmlformats.org/presentationml/2006/main" id="13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4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1809750"/>
          </a:xfrm>
          <a:prstGeom prst="rect">
            <a:avLst/>
          </a:prstGeom>
          <a:gradFill>
            <a:gsLst>
              <a:gs pos="0">
                <a:schemeClr val="lt1">
                  <a:alpha val="98000"/>
                </a:schemeClr>
              </a:gs>
              <a:gs pos="72000">
                <a:schemeClr val="lt1">
                  <a:alpha val="58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19100" y="300990"/>
            <a:ext cx="4787494" cy="1131570"/>
            <a:chOff x="419100" y="300990"/>
            <a:chExt cx="4787494" cy="1131570"/>
          </a:xfrm>
        </p:grpSpPr>
        <p:sp>
          <p:nvSpPr>
            <p:cNvPr id="4" name="TextBox 4"/>
            <p:cNvSpPr txBox="1"/>
            <p:nvPr/>
          </p:nvSpPr>
          <p:spPr>
            <a:xfrm>
              <a:off x="429006" y="300990"/>
              <a:ext cx="45102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12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 · PROFILE-DRIVEN DRILLDOWN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19100" y="613410"/>
              <a:ext cx="47874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从全球，推入中国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72450" y="361950"/>
            <a:ext cx="3600450" cy="742950"/>
            <a:chOff x="8172450" y="361950"/>
            <a:chExt cx="3600450" cy="742950"/>
          </a:xfrm>
        </p:grpSpPr>
        <p:sp>
          <p:nvSpPr>
            <p:cNvPr id="7" name="Rectangle 7"/>
            <p:cNvSpPr/>
            <p:nvPr/>
          </p:nvSpPr>
          <p:spPr>
            <a:xfrm>
              <a:off x="8172450" y="361950"/>
              <a:ext cx="3600450" cy="742950"/>
            </a:xfrm>
            <a:prstGeom prst="roundRect">
              <a:avLst>
                <a:gd name="adj" fmla="val 15385"/>
              </a:avLst>
            </a:prstGeom>
            <a:solidFill>
              <a:schemeClr val="lt1">
                <a:alpha val="90000"/>
              </a:schemeClr>
            </a:solidFill>
            <a:ln w="14288">
              <a:solidFill>
                <a:schemeClr val="accent3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417719" y="580689"/>
              <a:ext cx="309563" cy="286086"/>
              <a:chOff x="8417719" y="580689"/>
              <a:chExt cx="309563" cy="28608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524875" y="592931"/>
                <a:ext cx="95250" cy="261938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61938">
                    <a:moveTo>
                      <a:pt x="95250" y="47625"/>
                    </a:moveTo>
                    <a:lnTo>
                      <a:pt x="95250" y="261938"/>
                    </a:lnTo>
                    <a:lnTo>
                      <a:pt x="0" y="2143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417719" y="580689"/>
                <a:ext cx="309563" cy="286086"/>
              </a:xfrm>
              <a:custGeom>
                <a:avLst/>
                <a:gdLst/>
                <a:ahLst/>
                <a:cxnLst/>
                <a:rect l="l" t="t" r="r" b="b"/>
                <a:pathLst>
                  <a:path w="309563" h="286086">
                    <a:moveTo>
                      <a:pt x="304979" y="26663"/>
                    </a:moveTo>
                    <a:cubicBezTo>
                      <a:pt x="302089" y="24411"/>
                      <a:pt x="298323" y="23615"/>
                      <a:pt x="294769" y="24505"/>
                    </a:cubicBezTo>
                    <a:lnTo>
                      <a:pt x="203790" y="47246"/>
                    </a:lnTo>
                    <a:lnTo>
                      <a:pt x="112484" y="1586"/>
                    </a:lnTo>
                    <a:cubicBezTo>
                      <a:pt x="109940" y="317"/>
                      <a:pt x="107026" y="0"/>
                      <a:pt x="104269" y="693"/>
                    </a:cubicBezTo>
                    <a:lnTo>
                      <a:pt x="9019" y="24505"/>
                    </a:lnTo>
                    <a:cubicBezTo>
                      <a:pt x="3719" y="25830"/>
                      <a:pt x="1" y="30591"/>
                      <a:pt x="0" y="36054"/>
                    </a:cubicBezTo>
                    <a:lnTo>
                      <a:pt x="0" y="250367"/>
                    </a:lnTo>
                    <a:cubicBezTo>
                      <a:pt x="1" y="254033"/>
                      <a:pt x="1690" y="257494"/>
                      <a:pt x="4580" y="259750"/>
                    </a:cubicBezTo>
                    <a:cubicBezTo>
                      <a:pt x="7469" y="262006"/>
                      <a:pt x="11237" y="262805"/>
                      <a:pt x="14794" y="261916"/>
                    </a:cubicBezTo>
                    <a:lnTo>
                      <a:pt x="105772" y="239175"/>
                    </a:lnTo>
                    <a:lnTo>
                      <a:pt x="197078" y="284835"/>
                    </a:lnTo>
                    <a:cubicBezTo>
                      <a:pt x="198736" y="285653"/>
                      <a:pt x="200558" y="286080"/>
                      <a:pt x="202406" y="286086"/>
                    </a:cubicBezTo>
                    <a:cubicBezTo>
                      <a:pt x="203380" y="286085"/>
                      <a:pt x="204349" y="285965"/>
                      <a:pt x="205294" y="285728"/>
                    </a:cubicBezTo>
                    <a:lnTo>
                      <a:pt x="300544" y="261916"/>
                    </a:lnTo>
                    <a:cubicBezTo>
                      <a:pt x="305843" y="260591"/>
                      <a:pt x="309562" y="255830"/>
                      <a:pt x="309562" y="250367"/>
                    </a:cubicBezTo>
                    <a:lnTo>
                      <a:pt x="309562" y="36054"/>
                    </a:lnTo>
                    <a:cubicBezTo>
                      <a:pt x="309563" y="32385"/>
                      <a:pt x="307872" y="28920"/>
                      <a:pt x="304979" y="26663"/>
                    </a:cubicBezTo>
                    <a:close/>
                    <a:moveTo>
                      <a:pt x="119062" y="31500"/>
                    </a:moveTo>
                    <a:lnTo>
                      <a:pt x="190500" y="67219"/>
                    </a:lnTo>
                    <a:lnTo>
                      <a:pt x="190500" y="254921"/>
                    </a:lnTo>
                    <a:lnTo>
                      <a:pt x="119062" y="219202"/>
                    </a:lnTo>
                    <a:close/>
                    <a:moveTo>
                      <a:pt x="23812" y="45356"/>
                    </a:moveTo>
                    <a:lnTo>
                      <a:pt x="95250" y="27497"/>
                    </a:lnTo>
                    <a:lnTo>
                      <a:pt x="95250" y="217252"/>
                    </a:lnTo>
                    <a:lnTo>
                      <a:pt x="23812" y="235112"/>
                    </a:lnTo>
                    <a:close/>
                    <a:moveTo>
                      <a:pt x="285750" y="241065"/>
                    </a:moveTo>
                    <a:lnTo>
                      <a:pt x="214312" y="258924"/>
                    </a:lnTo>
                    <a:lnTo>
                      <a:pt x="214312" y="69169"/>
                    </a:lnTo>
                    <a:lnTo>
                      <a:pt x="285750" y="5130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887206" y="472440"/>
              <a:ext cx="2612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STRICT COUNTRY CLIP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90254" y="822960"/>
              <a:ext cx="2848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polygon + WGS84 bbox · 排除邻国记录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3238500"/>
            <a:ext cx="4457700" cy="2781300"/>
            <a:chOff x="381000" y="3238500"/>
            <a:chExt cx="4457700" cy="2781300"/>
          </a:xfrm>
        </p:grpSpPr>
        <p:sp>
          <p:nvSpPr>
            <p:cNvPr id="14" name="Rectangle 14"/>
            <p:cNvSpPr/>
            <p:nvPr/>
          </p:nvSpPr>
          <p:spPr>
            <a:xfrm>
              <a:off x="381000" y="3238500"/>
              <a:ext cx="4457700" cy="2781300"/>
            </a:xfrm>
            <a:prstGeom prst="roundRect">
              <a:avLst>
                <a:gd name="adj" fmla="val 5479"/>
              </a:avLst>
            </a:prstGeom>
            <a:gradFill>
              <a:gsLst>
                <a:gs pos="0">
                  <a:schemeClr val="lt1">
                    <a:alpha val="96000"/>
                  </a:schemeClr>
                </a:gs>
                <a:gs pos="100000">
                  <a:schemeClr val="lt2">
                    <a:alpha val="82000"/>
                  </a:schemeClr>
                </a:gs>
              </a:gsLst>
              <a:lin ang="2700000" scaled="1"/>
            </a:gradFill>
            <a:ln w="14288">
              <a:solidFill>
                <a:schemeClr val="accent3">
                  <a:alpha val="72000"/>
                </a:scheme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6656" y="3444240"/>
              <a:ext cx="28342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75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CHINA MEASUREMENTS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7700" y="3817620"/>
              <a:ext cx="213716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3"/>
                  </a:solidFill>
                  <a:effectLst>
                    <a:glow rad="57150">
                      <a:srgbClr val="F6C344">
                        <a:alpha val="45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7,114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370" y="45386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条测定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5010150"/>
              <a:ext cx="3848100" cy="9525"/>
            </a:xfrm>
            <a:custGeom>
              <a:avLst/>
              <a:gdLst/>
              <a:ahLst/>
              <a:cxnLst/>
              <a:rect l="l" t="t" r="r" b="b"/>
              <a:pathLst>
                <a:path w="3848100" h="9525">
                  <a:moveTo>
                    <a:pt x="0" y="0"/>
                  </a:moveTo>
                  <a:lnTo>
                    <a:pt x="38481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132" y="516445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1,464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67256" y="5196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物理样点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75432" y="5164455"/>
              <a:ext cx="487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136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43706" y="51968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75132" y="556450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3356" y="559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元素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32432" y="556450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00656" y="559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介质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91256" y="5596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同一接口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39300" y="2419350"/>
            <a:ext cx="2133600" cy="1085850"/>
            <a:chOff x="9639300" y="2419350"/>
            <a:chExt cx="2133600" cy="1085850"/>
          </a:xfrm>
        </p:grpSpPr>
        <p:sp>
          <p:nvSpPr>
            <p:cNvPr id="29" name="Rectangle 29"/>
            <p:cNvSpPr/>
            <p:nvPr/>
          </p:nvSpPr>
          <p:spPr>
            <a:xfrm>
              <a:off x="9639300" y="2419350"/>
              <a:ext cx="2133600" cy="1085850"/>
            </a:xfrm>
            <a:prstGeom prst="roundRect">
              <a:avLst>
                <a:gd name="adj" fmla="val 10526"/>
              </a:avLst>
            </a:prstGeom>
            <a:solidFill>
              <a:schemeClr val="lt1">
                <a:alpha val="90000"/>
              </a:schemeClr>
            </a:solidFill>
            <a:ln w="14288">
              <a:solidFill>
                <a:schemeClr val="accent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858375" y="26955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182606" y="2663190"/>
              <a:ext cx="13158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high · 富集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9858375" y="30956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182606" y="3063240"/>
              <a:ext cx="12268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low · 亏损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19700" y="4762500"/>
            <a:ext cx="6553200" cy="571500"/>
            <a:chOff x="5219700" y="4762500"/>
            <a:chExt cx="6553200" cy="571500"/>
          </a:xfrm>
        </p:grpSpPr>
        <p:sp>
          <p:nvSpPr>
            <p:cNvPr id="35" name="Rectangle 35"/>
            <p:cNvSpPr/>
            <p:nvPr/>
          </p:nvSpPr>
          <p:spPr>
            <a:xfrm>
              <a:off x="5219700" y="4762500"/>
              <a:ext cx="6553200" cy="571500"/>
            </a:xfrm>
            <a:prstGeom prst="roundRect">
              <a:avLst>
                <a:gd name="adj" fmla="val 20000"/>
              </a:avLst>
            </a:prstGeom>
            <a:solidFill>
              <a:schemeClr val="lt1">
                <a:alpha val="90000"/>
              </a:schemeClr>
            </a:solidFill>
            <a:ln w="14288">
              <a:solidFill>
                <a:schemeClr val="accent1">
                  <a:alpha val="58000"/>
                </a:scheme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478018" y="4946332"/>
              <a:ext cx="58988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Natural Earth 国家多边形 + WGS84 bbox 联合严格裁剪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19700" y="5505450"/>
            <a:ext cx="6553200" cy="590550"/>
            <a:chOff x="5219700" y="5505450"/>
            <a:chExt cx="6553200" cy="590550"/>
          </a:xfrm>
        </p:grpSpPr>
        <p:sp>
          <p:nvSpPr>
            <p:cNvPr id="38" name="Rectangle 38"/>
            <p:cNvSpPr/>
            <p:nvPr/>
          </p:nvSpPr>
          <p:spPr>
            <a:xfrm>
              <a:off x="5219700" y="5505450"/>
              <a:ext cx="6553200" cy="590550"/>
            </a:xfrm>
            <a:prstGeom prst="roundRect">
              <a:avLst>
                <a:gd name="adj" fmla="val 19355"/>
              </a:avLst>
            </a:prstGeom>
            <a:solidFill>
              <a:schemeClr val="lt1">
                <a:alpha val="94000"/>
              </a:schemeClr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451935" y="5623291"/>
              <a:ext cx="352400" cy="354867"/>
              <a:chOff x="5451935" y="5623291"/>
              <a:chExt cx="352400" cy="35486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466909" y="5638281"/>
                <a:ext cx="326106" cy="324887"/>
              </a:xfrm>
              <a:custGeom>
                <a:avLst/>
                <a:gdLst/>
                <a:ahLst/>
                <a:cxnLst/>
                <a:rect l="l" t="t" r="r" b="b"/>
                <a:pathLst>
                  <a:path w="326106" h="324887">
                    <a:moveTo>
                      <a:pt x="321244" y="171226"/>
                    </a:moveTo>
                    <a:lnTo>
                      <a:pt x="171226" y="321244"/>
                    </a:lnTo>
                    <a:cubicBezTo>
                      <a:pt x="168898" y="323576"/>
                      <a:pt x="165738" y="324887"/>
                      <a:pt x="162443" y="324887"/>
                    </a:cubicBezTo>
                    <a:cubicBezTo>
                      <a:pt x="159148" y="324887"/>
                      <a:pt x="155989" y="323576"/>
                      <a:pt x="153661" y="321244"/>
                    </a:cubicBezTo>
                    <a:lnTo>
                      <a:pt x="3643" y="171226"/>
                    </a:lnTo>
                    <a:cubicBezTo>
                      <a:pt x="1311" y="168898"/>
                      <a:pt x="0" y="165738"/>
                      <a:pt x="0" y="162443"/>
                    </a:cubicBezTo>
                    <a:cubicBezTo>
                      <a:pt x="0" y="159148"/>
                      <a:pt x="1311" y="155989"/>
                      <a:pt x="3643" y="153661"/>
                    </a:cubicBezTo>
                    <a:lnTo>
                      <a:pt x="153739" y="3643"/>
                    </a:lnTo>
                    <a:cubicBezTo>
                      <a:pt x="156067" y="1311"/>
                      <a:pt x="159227" y="0"/>
                      <a:pt x="162522" y="0"/>
                    </a:cubicBezTo>
                    <a:cubicBezTo>
                      <a:pt x="165817" y="0"/>
                      <a:pt x="168976" y="1311"/>
                      <a:pt x="171304" y="3643"/>
                    </a:cubicBezTo>
                    <a:lnTo>
                      <a:pt x="321322" y="153739"/>
                    </a:lnTo>
                    <a:cubicBezTo>
                      <a:pt x="326106" y="158599"/>
                      <a:pt x="326071" y="166409"/>
                      <a:pt x="321244" y="17122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451935" y="5623291"/>
                <a:ext cx="352400" cy="354867"/>
              </a:xfrm>
              <a:custGeom>
                <a:avLst/>
                <a:gdLst/>
                <a:ahLst/>
                <a:cxnLst/>
                <a:rect l="l" t="t" r="r" b="b"/>
                <a:pathLst>
                  <a:path w="352400" h="354867">
                    <a:moveTo>
                      <a:pt x="177340" y="89923"/>
                    </a:moveTo>
                    <a:cubicBezTo>
                      <a:pt x="184244" y="89923"/>
                      <a:pt x="189841" y="95520"/>
                      <a:pt x="189841" y="102424"/>
                    </a:cubicBezTo>
                    <a:lnTo>
                      <a:pt x="189841" y="189935"/>
                    </a:lnTo>
                    <a:cubicBezTo>
                      <a:pt x="189841" y="196839"/>
                      <a:pt x="184244" y="202437"/>
                      <a:pt x="177340" y="202437"/>
                    </a:cubicBezTo>
                    <a:cubicBezTo>
                      <a:pt x="170435" y="202437"/>
                      <a:pt x="164838" y="196839"/>
                      <a:pt x="164838" y="189935"/>
                    </a:cubicBezTo>
                    <a:lnTo>
                      <a:pt x="164838" y="102424"/>
                    </a:lnTo>
                    <a:cubicBezTo>
                      <a:pt x="164838" y="95520"/>
                      <a:pt x="170435" y="89923"/>
                      <a:pt x="177340" y="89923"/>
                    </a:cubicBezTo>
                    <a:close/>
                    <a:moveTo>
                      <a:pt x="158587" y="246192"/>
                    </a:moveTo>
                    <a:cubicBezTo>
                      <a:pt x="158587" y="256548"/>
                      <a:pt x="166983" y="264944"/>
                      <a:pt x="177340" y="264944"/>
                    </a:cubicBezTo>
                    <a:cubicBezTo>
                      <a:pt x="187696" y="264944"/>
                      <a:pt x="196092" y="256548"/>
                      <a:pt x="196092" y="246192"/>
                    </a:cubicBezTo>
                    <a:cubicBezTo>
                      <a:pt x="196092" y="235835"/>
                      <a:pt x="187696" y="227440"/>
                      <a:pt x="177340" y="227440"/>
                    </a:cubicBezTo>
                    <a:cubicBezTo>
                      <a:pt x="166983" y="227440"/>
                      <a:pt x="158587" y="235835"/>
                      <a:pt x="158587" y="246192"/>
                    </a:cubicBezTo>
                    <a:close/>
                    <a:moveTo>
                      <a:pt x="352361" y="177433"/>
                    </a:moveTo>
                    <a:cubicBezTo>
                      <a:pt x="352380" y="184048"/>
                      <a:pt x="349752" y="190395"/>
                      <a:pt x="345063" y="195061"/>
                    </a:cubicBezTo>
                    <a:lnTo>
                      <a:pt x="194967" y="345173"/>
                    </a:lnTo>
                    <a:cubicBezTo>
                      <a:pt x="185215" y="354867"/>
                      <a:pt x="169465" y="354867"/>
                      <a:pt x="159713" y="345173"/>
                    </a:cubicBezTo>
                    <a:lnTo>
                      <a:pt x="159713" y="345173"/>
                    </a:lnTo>
                    <a:lnTo>
                      <a:pt x="9694" y="195061"/>
                    </a:lnTo>
                    <a:cubicBezTo>
                      <a:pt x="0" y="185308"/>
                      <a:pt x="0" y="169558"/>
                      <a:pt x="9694" y="159806"/>
                    </a:cubicBezTo>
                    <a:lnTo>
                      <a:pt x="159791" y="9694"/>
                    </a:lnTo>
                    <a:cubicBezTo>
                      <a:pt x="169543" y="0"/>
                      <a:pt x="185293" y="0"/>
                      <a:pt x="195045" y="9694"/>
                    </a:cubicBezTo>
                    <a:lnTo>
                      <a:pt x="345141" y="159806"/>
                    </a:lnTo>
                    <a:cubicBezTo>
                      <a:pt x="349801" y="164485"/>
                      <a:pt x="352400" y="170830"/>
                      <a:pt x="352361" y="177433"/>
                    </a:cubicBezTo>
                    <a:close/>
                    <a:moveTo>
                      <a:pt x="327358" y="177433"/>
                    </a:moveTo>
                    <a:lnTo>
                      <a:pt x="177340" y="27415"/>
                    </a:lnTo>
                    <a:lnTo>
                      <a:pt x="27321" y="177433"/>
                    </a:lnTo>
                    <a:lnTo>
                      <a:pt x="177340" y="327452"/>
                    </a:lnTo>
                    <a:lnTo>
                      <a:pt x="177340" y="32745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972556" y="569214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候选不是污染、矿化或成因结论。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4904" y="6286500"/>
            <a:ext cx="11404092" cy="371856"/>
            <a:chOff x="374904" y="6286500"/>
            <a:chExt cx="11404092" cy="371856"/>
          </a:xfrm>
        </p:grpSpPr>
        <p:sp>
          <p:nvSpPr>
            <p:cNvPr id="44" name="Line 44"/>
            <p:cNvSpPr/>
            <p:nvPr/>
          </p:nvSpPr>
          <p:spPr>
            <a:xfrm>
              <a:off x="381000" y="6286500"/>
              <a:ext cx="11391900" cy="9525"/>
            </a:xfrm>
            <a:custGeom>
              <a:avLst/>
              <a:gdLst/>
              <a:ahLst/>
              <a:cxnLst/>
              <a:rect l="l" t="t" r="r" b="b"/>
              <a:pathLst>
                <a:path w="11391900" h="9525">
                  <a:moveTo>
                    <a:pt x="0" y="0"/>
                  </a:moveTo>
                  <a:lnTo>
                    <a:pt x="11391900" y="0"/>
                  </a:lnTo>
                </a:path>
              </a:pathLst>
            </a:custGeom>
            <a:noFill/>
            <a:ln w="9525">
              <a:solidFill>
                <a:schemeClr val="accent3">
                  <a:alpha val="38000"/>
                </a:schemeClr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4904" y="6423660"/>
              <a:ext cx="4349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 profile-driven D3 接口，不重写 D2 的统计与科学限定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38300" y="6423660"/>
              <a:ext cx="3240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China expanded run · screenshot no-crop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650">
        <p14:warp dir="in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2" presetClass="entr" presetSubtype="4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9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480"/>
                            </p:stCondLst>
                            <p:childTnLst>
                              <p:par>
                                <p:cTn xmlns:p="http://schemas.openxmlformats.org/presentationml/2006/main" id="18" presetID="22" presetClass="entr" presetSubtype="4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97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10"/>
                            </p:stCondLst>
                            <p:childTnLst>
                              <p:par>
                                <p:cTn xmlns:p="http://schemas.openxmlformats.org/presentationml/2006/main" id="26" presetID="26" presetClass="emph" presetSubtype="0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0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42000" r="50000" b="58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571500" y="-571500"/>
            <a:ext cx="13335000" cy="8382000"/>
            <a:chOff x="-571500" y="-571500"/>
            <a:chExt cx="13335000" cy="8382000"/>
          </a:xfrm>
        </p:grpSpPr>
        <p:sp>
          <p:nvSpPr>
            <p:cNvPr id="2" name="Ellipse 2"/>
            <p:cNvSpPr/>
            <p:nvPr/>
          </p:nvSpPr>
          <p:spPr>
            <a:xfrm>
              <a:off x="8572500" y="-571500"/>
              <a:ext cx="4191000" cy="4191000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9286875" y="142875"/>
              <a:ext cx="2762250" cy="2762250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-571500" y="3810000"/>
              <a:ext cx="4000500" cy="4000500"/>
            </a:xfrm>
            <a:prstGeom prst="ellipse">
              <a:avLst/>
            </a:pr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30670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1">
                  <a:alpha val="16000"/>
                </a:scheme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76250" y="339090"/>
            <a:ext cx="5974842" cy="1131570"/>
            <a:chOff x="476250" y="339090"/>
            <a:chExt cx="5974842" cy="1131570"/>
          </a:xfrm>
        </p:grpSpPr>
        <p:sp>
          <p:nvSpPr>
            <p:cNvPr id="7" name="TextBox 7"/>
            <p:cNvSpPr txBox="1"/>
            <p:nvPr/>
          </p:nvSpPr>
          <p:spPr>
            <a:xfrm>
              <a:off x="486156" y="339090"/>
              <a:ext cx="3626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12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04 · SCIENTIFIC RESTRAINT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76250" y="651510"/>
              <a:ext cx="597484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可信，不是永远给答案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8536" y="1432560"/>
            <a:ext cx="9109939" cy="819150"/>
            <a:chOff x="478536" y="1432560"/>
            <a:chExt cx="9109939" cy="819150"/>
          </a:xfrm>
        </p:grpSpPr>
        <p:sp>
          <p:nvSpPr>
            <p:cNvPr id="10" name="TextBox 10"/>
            <p:cNvSpPr txBox="1"/>
            <p:nvPr/>
          </p:nvSpPr>
          <p:spPr>
            <a:xfrm>
              <a:off x="478536" y="152971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0.874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03298" y="1545908"/>
              <a:ext cx="27035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工作流置信度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62550" y="143256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effectLst>
                    <a:glow rad="47625">
                      <a:srgbClr val="FF5C78">
                        <a:alpha val="45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88736" y="1529715"/>
              <a:ext cx="14095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87.4%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75448" y="15459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正确概率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73936" y="2194560"/>
            <a:ext cx="7726394" cy="819150"/>
            <a:chOff x="1773936" y="2194560"/>
            <a:chExt cx="7726394" cy="819150"/>
          </a:xfrm>
        </p:grpSpPr>
        <p:sp>
          <p:nvSpPr>
            <p:cNvPr id="16" name="TextBox 16"/>
            <p:cNvSpPr txBox="1"/>
            <p:nvPr/>
          </p:nvSpPr>
          <p:spPr>
            <a:xfrm>
              <a:off x="1773936" y="2291715"/>
              <a:ext cx="80318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535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41498" y="230790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个记录候选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48300" y="2194560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effectLst>
                    <a:glow rad="47625">
                      <a:srgbClr val="FF5C78">
                        <a:alpha val="45000"/>
                      </a:srgbClr>
                    </a:glow>
                  </a:effectLst>
                  <a:latin typeface="+mn-lt"/>
                  <a:ea typeface="+mn-ea"/>
                  <a:cs typeface="+mn-cs"/>
                </a:rPr>
                <a:t>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174486" y="2291715"/>
              <a:ext cx="80318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535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42048" y="230790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个成因结论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86156" y="3297555"/>
            <a:ext cx="1905763" cy="960501"/>
            <a:chOff x="486156" y="3297555"/>
            <a:chExt cx="1905763" cy="960501"/>
          </a:xfrm>
        </p:grpSpPr>
        <p:sp>
          <p:nvSpPr>
            <p:cNvPr id="22" name="TextBox 22"/>
            <p:cNvSpPr txBox="1"/>
            <p:nvPr/>
          </p:nvSpPr>
          <p:spPr>
            <a:xfrm>
              <a:off x="486156" y="3329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93152" y="329755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0.897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95300" y="3733800"/>
              <a:ext cx="188595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95300" y="3733800"/>
              <a:ext cx="16954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9204" y="4023360"/>
              <a:ext cx="609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772156" y="3297555"/>
            <a:ext cx="1905763" cy="960501"/>
            <a:chOff x="2772156" y="3297555"/>
            <a:chExt cx="1905763" cy="960501"/>
          </a:xfrm>
        </p:grpSpPr>
        <p:sp>
          <p:nvSpPr>
            <p:cNvPr id="28" name="TextBox 28"/>
            <p:cNvSpPr txBox="1"/>
            <p:nvPr/>
          </p:nvSpPr>
          <p:spPr>
            <a:xfrm>
              <a:off x="2772156" y="33299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79152" y="329755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0.956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781300" y="3733800"/>
              <a:ext cx="188595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781300" y="3733800"/>
              <a:ext cx="1800225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775204" y="4023360"/>
              <a:ext cx="1207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COMPLETENESS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058156" y="3297555"/>
            <a:ext cx="1905763" cy="960501"/>
            <a:chOff x="5058156" y="3297555"/>
            <a:chExt cx="1905763" cy="960501"/>
          </a:xfrm>
        </p:grpSpPr>
        <p:sp>
          <p:nvSpPr>
            <p:cNvPr id="34" name="TextBox 34"/>
            <p:cNvSpPr txBox="1"/>
            <p:nvPr/>
          </p:nvSpPr>
          <p:spPr>
            <a:xfrm>
              <a:off x="5058156" y="3329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65152" y="329755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0.813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067300" y="3733800"/>
              <a:ext cx="188595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067300" y="3733800"/>
              <a:ext cx="1533525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61204" y="4023360"/>
              <a:ext cx="643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METHOD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344156" y="3297555"/>
            <a:ext cx="1905763" cy="960501"/>
            <a:chOff x="7344156" y="3297555"/>
            <a:chExt cx="1905763" cy="960501"/>
          </a:xfrm>
        </p:grpSpPr>
        <p:sp>
          <p:nvSpPr>
            <p:cNvPr id="40" name="TextBox 40"/>
            <p:cNvSpPr txBox="1"/>
            <p:nvPr/>
          </p:nvSpPr>
          <p:spPr>
            <a:xfrm>
              <a:off x="7344156" y="3329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1152" y="329755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0.800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353300" y="3733800"/>
              <a:ext cx="188595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53300" y="3733800"/>
              <a:ext cx="150495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47204" y="4023360"/>
              <a:ext cx="626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SPATIAL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630156" y="3297555"/>
            <a:ext cx="1981963" cy="960501"/>
            <a:chOff x="9630156" y="3297555"/>
            <a:chExt cx="1981963" cy="960501"/>
          </a:xfrm>
        </p:grpSpPr>
        <p:sp>
          <p:nvSpPr>
            <p:cNvPr id="46" name="TextBox 46"/>
            <p:cNvSpPr txBox="1"/>
            <p:nvPr/>
          </p:nvSpPr>
          <p:spPr>
            <a:xfrm>
              <a:off x="9630156" y="3329940"/>
              <a:ext cx="3677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13352" y="3297555"/>
              <a:ext cx="7987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0.876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639300" y="3733800"/>
              <a:ext cx="1962150" cy="762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639300" y="3733800"/>
              <a:ext cx="171450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633204" y="4023360"/>
              <a:ext cx="1437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QUALITY CONTROL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95300" y="4686300"/>
            <a:ext cx="3333750" cy="976884"/>
            <a:chOff x="495300" y="4686300"/>
            <a:chExt cx="3333750" cy="976884"/>
          </a:xfrm>
        </p:grpSpPr>
        <p:sp>
          <p:nvSpPr>
            <p:cNvPr id="52" name="Line 52"/>
            <p:cNvSpPr/>
            <p:nvPr/>
          </p:nvSpPr>
          <p:spPr>
            <a:xfrm>
              <a:off x="495300" y="46863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547688" y="4980384"/>
              <a:ext cx="314325" cy="327868"/>
              <a:chOff x="547688" y="4980384"/>
              <a:chExt cx="314325" cy="32786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560784" y="4993481"/>
                <a:ext cx="288131" cy="301425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301425">
                    <a:moveTo>
                      <a:pt x="288131" y="13097"/>
                    </a:moveTo>
                    <a:lnTo>
                      <a:pt x="288131" y="109310"/>
                    </a:lnTo>
                    <a:cubicBezTo>
                      <a:pt x="288131" y="247122"/>
                      <a:pt x="171389" y="292781"/>
                      <a:pt x="148093" y="300524"/>
                    </a:cubicBezTo>
                    <a:cubicBezTo>
                      <a:pt x="145484" y="301425"/>
                      <a:pt x="142648" y="301425"/>
                      <a:pt x="140038" y="300524"/>
                    </a:cubicBezTo>
                    <a:cubicBezTo>
                      <a:pt x="116742" y="292813"/>
                      <a:pt x="0" y="247204"/>
                      <a:pt x="0" y="109343"/>
                    </a:cubicBezTo>
                    <a:lnTo>
                      <a:pt x="0" y="13097"/>
                    </a:lnTo>
                    <a:cubicBezTo>
                      <a:pt x="0" y="5864"/>
                      <a:pt x="5864" y="0"/>
                      <a:pt x="13097" y="0"/>
                    </a:cubicBezTo>
                    <a:lnTo>
                      <a:pt x="275034" y="0"/>
                    </a:lnTo>
                    <a:cubicBezTo>
                      <a:pt x="282268" y="0"/>
                      <a:pt x="288131" y="5864"/>
                      <a:pt x="288131" y="13097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547688" y="4980384"/>
                <a:ext cx="314325" cy="327868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27868">
                    <a:moveTo>
                      <a:pt x="288131" y="0"/>
                    </a:moveTo>
                    <a:lnTo>
                      <a:pt x="26194" y="0"/>
                    </a:lnTo>
                    <a:cubicBezTo>
                      <a:pt x="11727" y="0"/>
                      <a:pt x="0" y="11727"/>
                      <a:pt x="0" y="26194"/>
                    </a:cubicBezTo>
                    <a:lnTo>
                      <a:pt x="0" y="122423"/>
                    </a:lnTo>
                    <a:cubicBezTo>
                      <a:pt x="0" y="269124"/>
                      <a:pt x="124126" y="317796"/>
                      <a:pt x="148977" y="326063"/>
                    </a:cubicBezTo>
                    <a:cubicBezTo>
                      <a:pt x="154285" y="327868"/>
                      <a:pt x="160040" y="327868"/>
                      <a:pt x="165348" y="326063"/>
                    </a:cubicBezTo>
                    <a:cubicBezTo>
                      <a:pt x="190232" y="317796"/>
                      <a:pt x="314325" y="269124"/>
                      <a:pt x="314325" y="122423"/>
                    </a:cubicBezTo>
                    <a:lnTo>
                      <a:pt x="314325" y="26194"/>
                    </a:lnTo>
                    <a:cubicBezTo>
                      <a:pt x="314325" y="11727"/>
                      <a:pt x="302598" y="0"/>
                      <a:pt x="288131" y="0"/>
                    </a:cubicBezTo>
                    <a:close/>
                    <a:moveTo>
                      <a:pt x="288131" y="122439"/>
                    </a:moveTo>
                    <a:cubicBezTo>
                      <a:pt x="288131" y="250822"/>
                      <a:pt x="179509" y="293714"/>
                      <a:pt x="157162" y="301179"/>
                    </a:cubicBezTo>
                    <a:cubicBezTo>
                      <a:pt x="135012" y="293796"/>
                      <a:pt x="26194" y="250936"/>
                      <a:pt x="26194" y="122439"/>
                    </a:cubicBezTo>
                    <a:lnTo>
                      <a:pt x="26194" y="26194"/>
                    </a:lnTo>
                    <a:lnTo>
                      <a:pt x="288131" y="26194"/>
                    </a:lnTo>
                    <a:close/>
                    <a:moveTo>
                      <a:pt x="82412" y="166429"/>
                    </a:moveTo>
                    <a:cubicBezTo>
                      <a:pt x="77295" y="161311"/>
                      <a:pt x="77295" y="153014"/>
                      <a:pt x="82412" y="147896"/>
                    </a:cubicBezTo>
                    <a:cubicBezTo>
                      <a:pt x="87530" y="142779"/>
                      <a:pt x="95827" y="142779"/>
                      <a:pt x="100944" y="147896"/>
                    </a:cubicBezTo>
                    <a:lnTo>
                      <a:pt x="130969" y="177921"/>
                    </a:lnTo>
                    <a:lnTo>
                      <a:pt x="213381" y="95509"/>
                    </a:lnTo>
                    <a:cubicBezTo>
                      <a:pt x="218498" y="90391"/>
                      <a:pt x="226795" y="90391"/>
                      <a:pt x="231913" y="95509"/>
                    </a:cubicBezTo>
                    <a:cubicBezTo>
                      <a:pt x="237030" y="100626"/>
                      <a:pt x="237030" y="108924"/>
                      <a:pt x="231913" y="114041"/>
                    </a:cubicBezTo>
                    <a:lnTo>
                      <a:pt x="140235" y="205719"/>
                    </a:lnTo>
                    <a:cubicBezTo>
                      <a:pt x="137778" y="208178"/>
                      <a:pt x="134445" y="209560"/>
                      <a:pt x="130969" y="209560"/>
                    </a:cubicBezTo>
                    <a:cubicBezTo>
                      <a:pt x="127493" y="209560"/>
                      <a:pt x="124159" y="208178"/>
                      <a:pt x="121703" y="2057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56132" y="48977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248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743456" y="49301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条删失观测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7656" y="5311140"/>
              <a:ext cx="1435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绝不插补为 0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419600" y="4686300"/>
            <a:ext cx="3333750" cy="976884"/>
            <a:chOff x="4419600" y="4686300"/>
            <a:chExt cx="3333750" cy="976884"/>
          </a:xfrm>
        </p:grpSpPr>
        <p:sp>
          <p:nvSpPr>
            <p:cNvPr id="60" name="Line 60"/>
            <p:cNvSpPr/>
            <p:nvPr/>
          </p:nvSpPr>
          <p:spPr>
            <a:xfrm>
              <a:off x="4419600" y="46863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4471988" y="4954191"/>
              <a:ext cx="314325" cy="340519"/>
              <a:chOff x="4471988" y="4954191"/>
              <a:chExt cx="314325" cy="340519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4485084" y="4967288"/>
                <a:ext cx="288131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288131" h="157162">
                    <a:moveTo>
                      <a:pt x="288131" y="78581"/>
                    </a:moveTo>
                    <a:cubicBezTo>
                      <a:pt x="288131" y="121981"/>
                      <a:pt x="223629" y="157162"/>
                      <a:pt x="144066" y="157162"/>
                    </a:cubicBezTo>
                    <a:cubicBezTo>
                      <a:pt x="64502" y="157162"/>
                      <a:pt x="0" y="121981"/>
                      <a:pt x="0" y="78581"/>
                    </a:cubicBezTo>
                    <a:cubicBezTo>
                      <a:pt x="0" y="35181"/>
                      <a:pt x="64502" y="0"/>
                      <a:pt x="144066" y="0"/>
                    </a:cubicBezTo>
                    <a:cubicBezTo>
                      <a:pt x="223629" y="0"/>
                      <a:pt x="288131" y="35181"/>
                      <a:pt x="288131" y="78581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4471988" y="4954191"/>
                <a:ext cx="314325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40519">
                    <a:moveTo>
                      <a:pt x="157162" y="0"/>
                    </a:moveTo>
                    <a:cubicBezTo>
                      <a:pt x="69037" y="0"/>
                      <a:pt x="0" y="40273"/>
                      <a:pt x="0" y="91678"/>
                    </a:cubicBezTo>
                    <a:lnTo>
                      <a:pt x="0" y="248841"/>
                    </a:lnTo>
                    <a:cubicBezTo>
                      <a:pt x="0" y="300246"/>
                      <a:pt x="69037" y="340519"/>
                      <a:pt x="157162" y="340519"/>
                    </a:cubicBezTo>
                    <a:cubicBezTo>
                      <a:pt x="245288" y="340519"/>
                      <a:pt x="314325" y="300246"/>
                      <a:pt x="314325" y="248841"/>
                    </a:cubicBezTo>
                    <a:lnTo>
                      <a:pt x="314325" y="91678"/>
                    </a:lnTo>
                    <a:cubicBezTo>
                      <a:pt x="314325" y="40273"/>
                      <a:pt x="245288" y="0"/>
                      <a:pt x="157162" y="0"/>
                    </a:cubicBezTo>
                    <a:close/>
                    <a:moveTo>
                      <a:pt x="288131" y="170259"/>
                    </a:moveTo>
                    <a:cubicBezTo>
                      <a:pt x="288131" y="186008"/>
                      <a:pt x="275231" y="202068"/>
                      <a:pt x="252753" y="214330"/>
                    </a:cubicBezTo>
                    <a:cubicBezTo>
                      <a:pt x="227444" y="228131"/>
                      <a:pt x="193490" y="235744"/>
                      <a:pt x="157162" y="235744"/>
                    </a:cubicBezTo>
                    <a:cubicBezTo>
                      <a:pt x="120835" y="235744"/>
                      <a:pt x="86881" y="228131"/>
                      <a:pt x="61572" y="214330"/>
                    </a:cubicBezTo>
                    <a:cubicBezTo>
                      <a:pt x="39094" y="202068"/>
                      <a:pt x="26194" y="186008"/>
                      <a:pt x="26194" y="170259"/>
                    </a:cubicBezTo>
                    <a:lnTo>
                      <a:pt x="26194" y="143018"/>
                    </a:lnTo>
                    <a:cubicBezTo>
                      <a:pt x="54123" y="167575"/>
                      <a:pt x="101877" y="183356"/>
                      <a:pt x="157162" y="183356"/>
                    </a:cubicBezTo>
                    <a:cubicBezTo>
                      <a:pt x="212448" y="183356"/>
                      <a:pt x="260202" y="167509"/>
                      <a:pt x="288131" y="143018"/>
                    </a:cubicBezTo>
                    <a:close/>
                    <a:moveTo>
                      <a:pt x="61572" y="47607"/>
                    </a:moveTo>
                    <a:cubicBezTo>
                      <a:pt x="86881" y="33806"/>
                      <a:pt x="120835" y="26194"/>
                      <a:pt x="157162" y="26194"/>
                    </a:cubicBezTo>
                    <a:cubicBezTo>
                      <a:pt x="193490" y="26194"/>
                      <a:pt x="227444" y="33806"/>
                      <a:pt x="252753" y="47607"/>
                    </a:cubicBezTo>
                    <a:cubicBezTo>
                      <a:pt x="275231" y="59869"/>
                      <a:pt x="288131" y="75929"/>
                      <a:pt x="288131" y="91678"/>
                    </a:cubicBezTo>
                    <a:cubicBezTo>
                      <a:pt x="288131" y="107427"/>
                      <a:pt x="275231" y="123487"/>
                      <a:pt x="252753" y="135749"/>
                    </a:cubicBezTo>
                    <a:cubicBezTo>
                      <a:pt x="227444" y="149550"/>
                      <a:pt x="193490" y="157162"/>
                      <a:pt x="157162" y="157162"/>
                    </a:cubicBezTo>
                    <a:cubicBezTo>
                      <a:pt x="120835" y="157162"/>
                      <a:pt x="86881" y="149550"/>
                      <a:pt x="61572" y="135749"/>
                    </a:cubicBezTo>
                    <a:cubicBezTo>
                      <a:pt x="39094" y="123487"/>
                      <a:pt x="26194" y="107427"/>
                      <a:pt x="26194" y="91678"/>
                    </a:cubicBezTo>
                    <a:cubicBezTo>
                      <a:pt x="26194" y="75929"/>
                      <a:pt x="39094" y="59869"/>
                      <a:pt x="61572" y="47607"/>
                    </a:cubicBezTo>
                    <a:close/>
                    <a:moveTo>
                      <a:pt x="252753" y="292912"/>
                    </a:moveTo>
                    <a:cubicBezTo>
                      <a:pt x="227444" y="306712"/>
                      <a:pt x="193490" y="314325"/>
                      <a:pt x="157162" y="314325"/>
                    </a:cubicBezTo>
                    <a:cubicBezTo>
                      <a:pt x="120835" y="314325"/>
                      <a:pt x="86881" y="306712"/>
                      <a:pt x="61572" y="292912"/>
                    </a:cubicBezTo>
                    <a:cubicBezTo>
                      <a:pt x="39094" y="280650"/>
                      <a:pt x="26194" y="264590"/>
                      <a:pt x="26194" y="248841"/>
                    </a:cubicBezTo>
                    <a:lnTo>
                      <a:pt x="26194" y="221599"/>
                    </a:lnTo>
                    <a:cubicBezTo>
                      <a:pt x="54123" y="246156"/>
                      <a:pt x="101877" y="261938"/>
                      <a:pt x="157162" y="261938"/>
                    </a:cubicBezTo>
                    <a:cubicBezTo>
                      <a:pt x="212448" y="261938"/>
                      <a:pt x="260202" y="246090"/>
                      <a:pt x="288131" y="221599"/>
                    </a:cubicBezTo>
                    <a:lnTo>
                      <a:pt x="288131" y="248841"/>
                    </a:lnTo>
                    <a:cubicBezTo>
                      <a:pt x="288131" y="264590"/>
                      <a:pt x="275231" y="280650"/>
                      <a:pt x="252753" y="29291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4980432" y="4897755"/>
              <a:ext cx="3478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26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496306" y="49301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条不可上图记录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4981956" y="5311140"/>
              <a:ext cx="24377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仍保留在数据库 / QC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343900" y="4686300"/>
            <a:ext cx="3352800" cy="1211389"/>
            <a:chOff x="8343900" y="4686300"/>
            <a:chExt cx="3352800" cy="1211389"/>
          </a:xfrm>
        </p:grpSpPr>
        <p:sp>
          <p:nvSpPr>
            <p:cNvPr id="68" name="Line 68"/>
            <p:cNvSpPr/>
            <p:nvPr/>
          </p:nvSpPr>
          <p:spPr>
            <a:xfrm>
              <a:off x="8343900" y="4686300"/>
              <a:ext cx="3352800" cy="9525"/>
            </a:xfrm>
            <a:custGeom>
              <a:avLst/>
              <a:gdLst/>
              <a:ahLst/>
              <a:cxnLst/>
              <a:rect l="l" t="t" r="r" b="b"/>
              <a:pathLst>
                <a:path w="3352800" h="9525">
                  <a:moveTo>
                    <a:pt x="0" y="0"/>
                  </a:moveTo>
                  <a:lnTo>
                    <a:pt x="33528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8374235" y="4954184"/>
              <a:ext cx="349481" cy="349481"/>
              <a:chOff x="8374235" y="4954184"/>
              <a:chExt cx="349481" cy="349481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89043" y="4960043"/>
                <a:ext cx="328813" cy="328813"/>
              </a:xfrm>
              <a:custGeom>
                <a:avLst/>
                <a:gdLst/>
                <a:ahLst/>
                <a:cxnLst/>
                <a:rect l="l" t="t" r="r" b="b"/>
                <a:pathLst>
                  <a:path w="328813" h="328813">
                    <a:moveTo>
                      <a:pt x="298551" y="141389"/>
                    </a:moveTo>
                    <a:lnTo>
                      <a:pt x="141389" y="298551"/>
                    </a:lnTo>
                    <a:cubicBezTo>
                      <a:pt x="110630" y="328813"/>
                      <a:pt x="61224" y="328612"/>
                      <a:pt x="30712" y="298101"/>
                    </a:cubicBezTo>
                    <a:cubicBezTo>
                      <a:pt x="201" y="267589"/>
                      <a:pt x="0" y="218183"/>
                      <a:pt x="30262" y="187424"/>
                    </a:cubicBezTo>
                    <a:lnTo>
                      <a:pt x="187424" y="30262"/>
                    </a:lnTo>
                    <a:cubicBezTo>
                      <a:pt x="218183" y="0"/>
                      <a:pt x="267589" y="201"/>
                      <a:pt x="298101" y="30712"/>
                    </a:cubicBezTo>
                    <a:cubicBezTo>
                      <a:pt x="328612" y="61224"/>
                      <a:pt x="328813" y="110630"/>
                      <a:pt x="298551" y="14138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74235" y="4954184"/>
                <a:ext cx="349481" cy="349481"/>
              </a:xfrm>
              <a:custGeom>
                <a:avLst/>
                <a:gdLst/>
                <a:ahLst/>
                <a:cxnLst/>
                <a:rect l="l" t="t" r="r" b="b"/>
                <a:pathLst>
                  <a:path w="349481" h="349481">
                    <a:moveTo>
                      <a:pt x="240869" y="108612"/>
                    </a:moveTo>
                    <a:cubicBezTo>
                      <a:pt x="243328" y="111069"/>
                      <a:pt x="244710" y="114402"/>
                      <a:pt x="244710" y="117878"/>
                    </a:cubicBezTo>
                    <a:cubicBezTo>
                      <a:pt x="244710" y="121355"/>
                      <a:pt x="243328" y="124688"/>
                      <a:pt x="240869" y="127145"/>
                    </a:cubicBezTo>
                    <a:lnTo>
                      <a:pt x="136094" y="231920"/>
                    </a:lnTo>
                    <a:cubicBezTo>
                      <a:pt x="130976" y="237037"/>
                      <a:pt x="122679" y="237037"/>
                      <a:pt x="117562" y="231920"/>
                    </a:cubicBezTo>
                    <a:cubicBezTo>
                      <a:pt x="112444" y="226802"/>
                      <a:pt x="112444" y="218505"/>
                      <a:pt x="117562" y="213387"/>
                    </a:cubicBezTo>
                    <a:lnTo>
                      <a:pt x="222337" y="108612"/>
                    </a:lnTo>
                    <a:cubicBezTo>
                      <a:pt x="224793" y="106153"/>
                      <a:pt x="228127" y="104771"/>
                      <a:pt x="231603" y="104771"/>
                    </a:cubicBezTo>
                    <a:cubicBezTo>
                      <a:pt x="235079" y="104771"/>
                      <a:pt x="238412" y="106153"/>
                      <a:pt x="240869" y="108612"/>
                    </a:cubicBezTo>
                    <a:close/>
                    <a:moveTo>
                      <a:pt x="322626" y="26855"/>
                    </a:moveTo>
                    <a:cubicBezTo>
                      <a:pt x="305433" y="9660"/>
                      <a:pt x="282113" y="0"/>
                      <a:pt x="257796" y="0"/>
                    </a:cubicBezTo>
                    <a:cubicBezTo>
                      <a:pt x="233480" y="0"/>
                      <a:pt x="210160" y="9660"/>
                      <a:pt x="192967" y="26855"/>
                    </a:cubicBezTo>
                    <a:lnTo>
                      <a:pt x="143755" y="76050"/>
                    </a:lnTo>
                    <a:cubicBezTo>
                      <a:pt x="138638" y="81168"/>
                      <a:pt x="138638" y="89465"/>
                      <a:pt x="143755" y="94582"/>
                    </a:cubicBezTo>
                    <a:cubicBezTo>
                      <a:pt x="148873" y="99700"/>
                      <a:pt x="157170" y="99700"/>
                      <a:pt x="162287" y="94582"/>
                    </a:cubicBezTo>
                    <a:lnTo>
                      <a:pt x="211499" y="45469"/>
                    </a:lnTo>
                    <a:cubicBezTo>
                      <a:pt x="237150" y="20381"/>
                      <a:pt x="278213" y="20607"/>
                      <a:pt x="303587" y="45976"/>
                    </a:cubicBezTo>
                    <a:cubicBezTo>
                      <a:pt x="328960" y="71345"/>
                      <a:pt x="329194" y="112408"/>
                      <a:pt x="304110" y="138064"/>
                    </a:cubicBezTo>
                    <a:lnTo>
                      <a:pt x="254882" y="187276"/>
                    </a:lnTo>
                    <a:cubicBezTo>
                      <a:pt x="249765" y="192389"/>
                      <a:pt x="249761" y="200682"/>
                      <a:pt x="254874" y="205799"/>
                    </a:cubicBezTo>
                    <a:cubicBezTo>
                      <a:pt x="259987" y="210917"/>
                      <a:pt x="268281" y="210921"/>
                      <a:pt x="273398" y="205808"/>
                    </a:cubicBezTo>
                    <a:lnTo>
                      <a:pt x="322626" y="156514"/>
                    </a:lnTo>
                    <a:cubicBezTo>
                      <a:pt x="339821" y="139321"/>
                      <a:pt x="349481" y="116001"/>
                      <a:pt x="349481" y="91685"/>
                    </a:cubicBezTo>
                    <a:cubicBezTo>
                      <a:pt x="349481" y="67369"/>
                      <a:pt x="339821" y="44048"/>
                      <a:pt x="322626" y="26855"/>
                    </a:cubicBezTo>
                    <a:close/>
                    <a:moveTo>
                      <a:pt x="196143" y="245933"/>
                    </a:moveTo>
                    <a:lnTo>
                      <a:pt x="146931" y="295145"/>
                    </a:lnTo>
                    <a:cubicBezTo>
                      <a:pt x="130451" y="311995"/>
                      <a:pt x="106186" y="318689"/>
                      <a:pt x="83398" y="312672"/>
                    </a:cubicBezTo>
                    <a:cubicBezTo>
                      <a:pt x="60609" y="306654"/>
                      <a:pt x="42812" y="288854"/>
                      <a:pt x="36798" y="266064"/>
                    </a:cubicBezTo>
                    <a:cubicBezTo>
                      <a:pt x="30785" y="243274"/>
                      <a:pt x="37483" y="219011"/>
                      <a:pt x="54336" y="202533"/>
                    </a:cubicBezTo>
                    <a:lnTo>
                      <a:pt x="103532" y="153338"/>
                    </a:lnTo>
                    <a:cubicBezTo>
                      <a:pt x="108649" y="148221"/>
                      <a:pt x="108649" y="139924"/>
                      <a:pt x="103532" y="134806"/>
                    </a:cubicBezTo>
                    <a:cubicBezTo>
                      <a:pt x="98414" y="129689"/>
                      <a:pt x="90117" y="129689"/>
                      <a:pt x="84999" y="134806"/>
                    </a:cubicBezTo>
                    <a:lnTo>
                      <a:pt x="35804" y="184018"/>
                    </a:lnTo>
                    <a:cubicBezTo>
                      <a:pt x="0" y="219822"/>
                      <a:pt x="0" y="277872"/>
                      <a:pt x="35804" y="313677"/>
                    </a:cubicBezTo>
                    <a:cubicBezTo>
                      <a:pt x="71609" y="349481"/>
                      <a:pt x="129659" y="349481"/>
                      <a:pt x="165463" y="313677"/>
                    </a:cubicBezTo>
                    <a:lnTo>
                      <a:pt x="214675" y="264449"/>
                    </a:lnTo>
                    <a:cubicBezTo>
                      <a:pt x="219788" y="259331"/>
                      <a:pt x="219784" y="251038"/>
                      <a:pt x="214667" y="245925"/>
                    </a:cubicBezTo>
                    <a:cubicBezTo>
                      <a:pt x="209549" y="240812"/>
                      <a:pt x="201256" y="240816"/>
                      <a:pt x="196143" y="24593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8904732" y="4897755"/>
              <a:ext cx="7337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96856" y="4930140"/>
              <a:ext cx="1519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locator 覆盖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907018" y="5289232"/>
              <a:ext cx="265709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independent verified</a:t>
              </a:r>
              <a:br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count = 0 · 不升级证据等级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486156" y="6153150"/>
            <a:ext cx="11216640" cy="481584"/>
            <a:chOff x="486156" y="6153150"/>
            <a:chExt cx="11216640" cy="481584"/>
          </a:xfrm>
        </p:grpSpPr>
        <p:sp>
          <p:nvSpPr>
            <p:cNvPr id="76" name="Line 76"/>
            <p:cNvSpPr/>
            <p:nvPr/>
          </p:nvSpPr>
          <p:spPr>
            <a:xfrm>
              <a:off x="495300" y="6153150"/>
              <a:ext cx="11201400" cy="9525"/>
            </a:xfrm>
            <a:custGeom>
              <a:avLst/>
              <a:gdLst/>
              <a:ahLst/>
              <a:cxnLst/>
              <a:rect l="l" t="t" r="r" b="b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86156" y="6282690"/>
              <a:ext cx="57578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D3 只呈现 D1 / D2 证据，不重新计算科学结论。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739280" y="6347460"/>
              <a:ext cx="4963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workflow confidence measures usability, not truth probability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2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4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20"/>
                            </p:stCondLst>
                            <p:childTnLst>
                              <p:par>
                                <p:cTn xmlns:p="http://schemas.openxmlformats.org/presentationml/2006/main" id="25" presetID="2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4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620"/>
                            </p:stCondLst>
                            <p:childTnLst>
                              <p:par>
                                <p:cTn xmlns:p="http://schemas.openxmlformats.org/presentationml/2006/main" id="29" presetID="2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4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2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4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42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4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20"/>
                            </p:stCondLst>
                            <p:childTnLst>
                              <p:par>
                                <p:cTn xmlns:p="http://schemas.openxmlformats.org/presentationml/2006/main" id="4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4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2"/>
            </a:gs>
            <a:gs pos="100000">
              <a:schemeClr val="lt1"/>
            </a:gs>
          </a:gsLst>
          <a:path path="circle">
            <a:fillToRect l="50000" t="48000" r="50000" b="52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1333500" y="666750"/>
            <a:ext cx="9525000" cy="5572125"/>
            <a:chOff x="1333500" y="666750"/>
            <a:chExt cx="9525000" cy="5572125"/>
          </a:xfrm>
        </p:grpSpPr>
        <p:sp>
          <p:nvSpPr>
            <p:cNvPr id="2" name="Ellipse 2"/>
            <p:cNvSpPr/>
            <p:nvPr/>
          </p:nvSpPr>
          <p:spPr>
            <a:xfrm>
              <a:off x="1333500" y="1257300"/>
              <a:ext cx="9525000" cy="4533900"/>
            </a:xfrm>
            <a:prstGeom prst="ellipse">
              <a:avLst/>
            </a:pr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2552700" y="1885950"/>
              <a:ext cx="7086600" cy="3276600"/>
            </a:xfrm>
            <a:prstGeom prst="ellipse">
              <a:avLst/>
            </a:prstGeom>
            <a:noFill/>
            <a:ln w="9525">
              <a:solidFill>
                <a:schemeClr val="accent1">
                  <a:alpha val="16000"/>
                </a:scheme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428750" y="666750"/>
              <a:ext cx="9429750" cy="5572125"/>
            </a:xfrm>
            <a:custGeom>
              <a:avLst/>
              <a:gdLst/>
              <a:ahLst/>
              <a:cxnLst/>
              <a:rect l="l" t="t" r="r" b="b"/>
              <a:pathLst>
                <a:path w="9429750" h="5572125">
                  <a:moveTo>
                    <a:pt x="0" y="2857500"/>
                  </a:moveTo>
                  <a:cubicBezTo>
                    <a:pt x="1238250" y="190500"/>
                    <a:pt x="8096250" y="0"/>
                    <a:pt x="9429750" y="2857500"/>
                  </a:cubicBezTo>
                  <a:cubicBezTo>
                    <a:pt x="8191500" y="5572125"/>
                    <a:pt x="1238250" y="5524500"/>
                    <a:pt x="0" y="2857500"/>
                  </a:cubicBezTo>
                </a:path>
              </a:pathLst>
            </a:custGeom>
            <a:noFill/>
            <a:ln w="19050">
              <a:gradFill>
                <a:gsLst>
                  <a:gs pos="0">
                    <a:schemeClr val="accent1">
                      <a:alpha val="15000"/>
                    </a:schemeClr>
                  </a:gs>
                  <a:gs pos="50000">
                    <a:schemeClr val="accent1"/>
                  </a:gs>
                  <a:gs pos="100000">
                    <a:schemeClr val="accent2">
                      <a:alpha val="4500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5" name="Ellipse 5"/>
            <p:cNvSpPr/>
            <p:nvPr/>
          </p:nvSpPr>
          <p:spPr>
            <a:xfrm>
              <a:off x="4743450" y="2171700"/>
              <a:ext cx="2705100" cy="2705100"/>
            </a:xfrm>
            <a:prstGeom prst="ellipse">
              <a:avLst/>
            </a:prstGeom>
            <a:noFill/>
            <a:ln w="9525">
              <a:solidFill>
                <a:schemeClr val="accent1">
                  <a:alpha val="12000"/>
                </a:schemeClr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400050" y="320040"/>
            <a:ext cx="8943213" cy="1150620"/>
            <a:chOff x="400050" y="320040"/>
            <a:chExt cx="8943213" cy="1150620"/>
          </a:xfrm>
        </p:grpSpPr>
        <p:sp>
          <p:nvSpPr>
            <p:cNvPr id="7" name="TextBox 7"/>
            <p:cNvSpPr txBox="1"/>
            <p:nvPr/>
          </p:nvSpPr>
          <p:spPr>
            <a:xfrm>
              <a:off x="409956" y="320040"/>
              <a:ext cx="47412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spc="112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GLOBAL GEOCHEMICAL ATLAS SKILL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0050" y="651510"/>
              <a:ext cx="894321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一个请求，五类交付，全链可核查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724150" y="2000250"/>
            <a:ext cx="6972300" cy="3124200"/>
            <a:chOff x="2724150" y="2000250"/>
            <a:chExt cx="6972300" cy="3124200"/>
          </a:xfrm>
        </p:grpSpPr>
        <p:sp>
          <p:nvSpPr>
            <p:cNvPr id="10" name="Line 10"/>
            <p:cNvSpPr/>
            <p:nvPr/>
          </p:nvSpPr>
          <p:spPr>
            <a:xfrm>
              <a:off x="2724150" y="2247900"/>
              <a:ext cx="2533650" cy="781050"/>
            </a:xfrm>
            <a:custGeom>
              <a:avLst/>
              <a:gdLst/>
              <a:ahLst/>
              <a:cxnLst/>
              <a:rect l="l" t="t" r="r" b="b"/>
              <a:pathLst>
                <a:path w="2533650" h="781050">
                  <a:moveTo>
                    <a:pt x="2533650" y="7810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>
                  <a:alpha val="44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934200" y="2000250"/>
              <a:ext cx="2305050" cy="914400"/>
            </a:xfrm>
            <a:custGeom>
              <a:avLst/>
              <a:gdLst/>
              <a:ahLst/>
              <a:cxnLst/>
              <a:rect l="l" t="t" r="r" b="b"/>
              <a:pathLst>
                <a:path w="2305050" h="914400">
                  <a:moveTo>
                    <a:pt x="0" y="914400"/>
                  </a:moveTo>
                  <a:lnTo>
                    <a:pt x="2305050" y="0"/>
                  </a:lnTo>
                </a:path>
              </a:pathLst>
            </a:custGeom>
            <a:noFill/>
            <a:ln w="19050">
              <a:solidFill>
                <a:schemeClr val="accent1">
                  <a:alpha val="44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086600" y="3695700"/>
              <a:ext cx="2609850" cy="247650"/>
            </a:xfrm>
            <a:custGeom>
              <a:avLst/>
              <a:gdLst/>
              <a:ahLst/>
              <a:cxnLst/>
              <a:rect l="l" t="t" r="r" b="b"/>
              <a:pathLst>
                <a:path w="2609850" h="247650">
                  <a:moveTo>
                    <a:pt x="0" y="0"/>
                  </a:moveTo>
                  <a:lnTo>
                    <a:pt x="2609850" y="247650"/>
                  </a:lnTo>
                </a:path>
              </a:pathLst>
            </a:custGeom>
            <a:noFill/>
            <a:ln w="19050">
              <a:solidFill>
                <a:schemeClr val="accent1">
                  <a:alpha val="44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496050" y="4419600"/>
              <a:ext cx="361950" cy="704850"/>
            </a:xfrm>
            <a:custGeom>
              <a:avLst/>
              <a:gdLst/>
              <a:ahLst/>
              <a:cxnLst/>
              <a:rect l="l" t="t" r="r" b="b"/>
              <a:pathLst>
                <a:path w="361950" h="704850">
                  <a:moveTo>
                    <a:pt x="0" y="0"/>
                  </a:moveTo>
                  <a:lnTo>
                    <a:pt x="361950" y="704850"/>
                  </a:lnTo>
                </a:path>
              </a:pathLst>
            </a:custGeom>
            <a:noFill/>
            <a:ln w="19050">
              <a:solidFill>
                <a:schemeClr val="accent1">
                  <a:alpha val="44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724150" y="4000500"/>
              <a:ext cx="2495550" cy="685800"/>
            </a:xfrm>
            <a:custGeom>
              <a:avLst/>
              <a:gdLst/>
              <a:ahLst/>
              <a:cxnLst/>
              <a:rect l="l" t="t" r="r" b="b"/>
              <a:pathLst>
                <a:path w="2495550" h="685800">
                  <a:moveTo>
                    <a:pt x="2495550" y="0"/>
                  </a:moveTo>
                  <a:lnTo>
                    <a:pt x="0" y="685800"/>
                  </a:lnTo>
                </a:path>
              </a:pathLst>
            </a:custGeom>
            <a:noFill/>
            <a:ln w="19050">
              <a:solidFill>
                <a:schemeClr val="accent1">
                  <a:alpha val="44000"/>
                </a:schemeClr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067300" y="2495550"/>
            <a:ext cx="2057400" cy="2057400"/>
            <a:chOff x="5067300" y="2495550"/>
            <a:chExt cx="2057400" cy="2057400"/>
          </a:xfrm>
        </p:grpSpPr>
        <p:sp>
          <p:nvSpPr>
            <p:cNvPr id="16" name="Ellipse 16"/>
            <p:cNvSpPr/>
            <p:nvPr/>
          </p:nvSpPr>
          <p:spPr>
            <a:xfrm>
              <a:off x="5067300" y="2495550"/>
              <a:ext cx="2057400" cy="20574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  <a:effectLst>
              <a:glow rad="76200">
                <a:srgbClr val="69F5E6">
                  <a:alpha val="48000"/>
                </a:srgbClr>
              </a:glow>
            </a:effectLst>
          </p:spPr>
        </p:sp>
        <p:grpSp>
          <p:nvGrpSpPr>
            <p:cNvPr id="19" name="Group 19"/>
            <p:cNvGrpSpPr/>
            <p:nvPr/>
          </p:nvGrpSpPr>
          <p:grpSpPr>
            <a:xfrm>
              <a:off x="5688170" y="2753830"/>
              <a:ext cx="810261" cy="810901"/>
              <a:chOff x="5688170" y="2753830"/>
              <a:chExt cx="810261" cy="81090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5688170" y="2753830"/>
                <a:ext cx="744480" cy="709171"/>
              </a:xfrm>
              <a:custGeom>
                <a:avLst/>
                <a:gdLst/>
                <a:ahLst/>
                <a:cxnLst/>
                <a:rect l="l" t="t" r="r" b="b"/>
                <a:pathLst>
                  <a:path w="744480" h="709171">
                    <a:moveTo>
                      <a:pt x="744480" y="565998"/>
                    </a:moveTo>
                    <a:cubicBezTo>
                      <a:pt x="717780" y="622917"/>
                      <a:pt x="677130" y="672166"/>
                      <a:pt x="626304" y="709171"/>
                    </a:cubicBezTo>
                    <a:lnTo>
                      <a:pt x="590085" y="672913"/>
                    </a:lnTo>
                    <a:cubicBezTo>
                      <a:pt x="586205" y="669018"/>
                      <a:pt x="581356" y="666227"/>
                      <a:pt x="576039" y="664826"/>
                    </a:cubicBezTo>
                    <a:lnTo>
                      <a:pt x="492960" y="642925"/>
                    </a:lnTo>
                    <a:cubicBezTo>
                      <a:pt x="477713" y="638914"/>
                      <a:pt x="467915" y="624085"/>
                      <a:pt x="470207" y="608486"/>
                    </a:cubicBezTo>
                    <a:lnTo>
                      <a:pt x="479417" y="545799"/>
                    </a:lnTo>
                    <a:cubicBezTo>
                      <a:pt x="481001" y="535045"/>
                      <a:pt x="488110" y="525909"/>
                      <a:pt x="498145" y="521731"/>
                    </a:cubicBezTo>
                    <a:lnTo>
                      <a:pt x="616011" y="472743"/>
                    </a:lnTo>
                    <a:cubicBezTo>
                      <a:pt x="627128" y="468130"/>
                      <a:pt x="639911" y="470378"/>
                      <a:pt x="648786" y="478508"/>
                    </a:cubicBezTo>
                    <a:close/>
                    <a:moveTo>
                      <a:pt x="531230" y="319470"/>
                    </a:moveTo>
                    <a:lnTo>
                      <a:pt x="617017" y="219637"/>
                    </a:lnTo>
                    <a:cubicBezTo>
                      <a:pt x="621841" y="214040"/>
                      <a:pt x="624503" y="206903"/>
                      <a:pt x="624524" y="199515"/>
                    </a:cubicBezTo>
                    <a:lnTo>
                      <a:pt x="624524" y="106646"/>
                    </a:lnTo>
                    <a:cubicBezTo>
                      <a:pt x="476245" y="0"/>
                      <a:pt x="272438" y="16969"/>
                      <a:pt x="143837" y="146668"/>
                    </a:cubicBezTo>
                    <a:cubicBezTo>
                      <a:pt x="15236" y="276368"/>
                      <a:pt x="0" y="480311"/>
                      <a:pt x="107903" y="627679"/>
                    </a:cubicBezTo>
                    <a:lnTo>
                      <a:pt x="146289" y="602449"/>
                    </a:lnTo>
                    <a:cubicBezTo>
                      <a:pt x="154923" y="596745"/>
                      <a:pt x="160136" y="587104"/>
                      <a:pt x="160180" y="576756"/>
                    </a:cubicBezTo>
                    <a:lnTo>
                      <a:pt x="160993" y="436563"/>
                    </a:lnTo>
                    <a:cubicBezTo>
                      <a:pt x="161035" y="430487"/>
                      <a:pt x="162851" y="424556"/>
                      <a:pt x="166217" y="419498"/>
                    </a:cubicBezTo>
                    <a:lnTo>
                      <a:pt x="247245" y="298382"/>
                    </a:lnTo>
                    <a:cubicBezTo>
                      <a:pt x="251940" y="291413"/>
                      <a:pt x="259266" y="286652"/>
                      <a:pt x="267542" y="285192"/>
                    </a:cubicBezTo>
                    <a:cubicBezTo>
                      <a:pt x="275817" y="283733"/>
                      <a:pt x="284330" y="285700"/>
                      <a:pt x="291125" y="290642"/>
                    </a:cubicBezTo>
                    <a:lnTo>
                      <a:pt x="367781" y="340946"/>
                    </a:lnTo>
                    <a:cubicBezTo>
                      <a:pt x="374235" y="345595"/>
                      <a:pt x="382222" y="347603"/>
                      <a:pt x="390108" y="346557"/>
                    </a:cubicBezTo>
                    <a:lnTo>
                      <a:pt x="511843" y="330073"/>
                    </a:lnTo>
                    <a:cubicBezTo>
                      <a:pt x="519390" y="329044"/>
                      <a:pt x="526292" y="325269"/>
                      <a:pt x="531230" y="319470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5693569" y="2759869"/>
                <a:ext cx="804862" cy="804862"/>
              </a:xfrm>
              <a:custGeom>
                <a:avLst/>
                <a:gdLst/>
                <a:ahLst/>
                <a:cxnLst/>
                <a:rect l="l" t="t" r="r" b="b"/>
                <a:pathLst>
                  <a:path w="804862" h="804862">
                    <a:moveTo>
                      <a:pt x="402431" y="0"/>
                    </a:moveTo>
                    <a:cubicBezTo>
                      <a:pt x="180175" y="0"/>
                      <a:pt x="0" y="180175"/>
                      <a:pt x="0" y="402431"/>
                    </a:cubicBezTo>
                    <a:cubicBezTo>
                      <a:pt x="0" y="624688"/>
                      <a:pt x="180175" y="804862"/>
                      <a:pt x="402431" y="804862"/>
                    </a:cubicBezTo>
                    <a:cubicBezTo>
                      <a:pt x="624688" y="804862"/>
                      <a:pt x="804862" y="624688"/>
                      <a:pt x="804862" y="402431"/>
                    </a:cubicBezTo>
                    <a:cubicBezTo>
                      <a:pt x="804628" y="180272"/>
                      <a:pt x="624591" y="235"/>
                      <a:pt x="402431" y="0"/>
                    </a:cubicBezTo>
                    <a:close/>
                    <a:moveTo>
                      <a:pt x="402431" y="61912"/>
                    </a:moveTo>
                    <a:cubicBezTo>
                      <a:pt x="468405" y="61842"/>
                      <a:pt x="532962" y="81048"/>
                      <a:pt x="588169" y="117169"/>
                    </a:cubicBezTo>
                    <a:lnTo>
                      <a:pt x="588169" y="193477"/>
                    </a:lnTo>
                    <a:lnTo>
                      <a:pt x="502381" y="293078"/>
                    </a:lnTo>
                    <a:lnTo>
                      <a:pt x="380607" y="309562"/>
                    </a:lnTo>
                    <a:lnTo>
                      <a:pt x="379408" y="308711"/>
                    </a:lnTo>
                    <a:lnTo>
                      <a:pt x="303294" y="258949"/>
                    </a:lnTo>
                    <a:cubicBezTo>
                      <a:pt x="289661" y="249346"/>
                      <a:pt x="272731" y="245648"/>
                      <a:pt x="256336" y="248693"/>
                    </a:cubicBezTo>
                    <a:cubicBezTo>
                      <a:pt x="239941" y="251737"/>
                      <a:pt x="225467" y="261267"/>
                      <a:pt x="216191" y="275124"/>
                    </a:cubicBezTo>
                    <a:lnTo>
                      <a:pt x="135163" y="396240"/>
                    </a:lnTo>
                    <a:cubicBezTo>
                      <a:pt x="128413" y="406333"/>
                      <a:pt x="124779" y="418188"/>
                      <a:pt x="124715" y="430331"/>
                    </a:cubicBezTo>
                    <a:lnTo>
                      <a:pt x="123825" y="570524"/>
                    </a:lnTo>
                    <a:lnTo>
                      <a:pt x="111172" y="578843"/>
                    </a:lnTo>
                    <a:cubicBezTo>
                      <a:pt x="47484" y="473693"/>
                      <a:pt x="45416" y="342379"/>
                      <a:pt x="105762" y="235276"/>
                    </a:cubicBezTo>
                    <a:cubicBezTo>
                      <a:pt x="166108" y="128173"/>
                      <a:pt x="279498" y="61912"/>
                      <a:pt x="402431" y="61912"/>
                    </a:cubicBezTo>
                    <a:close/>
                    <a:moveTo>
                      <a:pt x="148164" y="628683"/>
                    </a:moveTo>
                    <a:lnTo>
                      <a:pt x="157916" y="622298"/>
                    </a:lnTo>
                    <a:cubicBezTo>
                      <a:pt x="175210" y="610891"/>
                      <a:pt x="185652" y="591589"/>
                      <a:pt x="185738" y="570872"/>
                    </a:cubicBezTo>
                    <a:lnTo>
                      <a:pt x="186550" y="430679"/>
                    </a:lnTo>
                    <a:lnTo>
                      <a:pt x="267655" y="309562"/>
                    </a:lnTo>
                    <a:cubicBezTo>
                      <a:pt x="268053" y="309868"/>
                      <a:pt x="268466" y="310152"/>
                      <a:pt x="268894" y="310414"/>
                    </a:cubicBezTo>
                    <a:lnTo>
                      <a:pt x="345007" y="360215"/>
                    </a:lnTo>
                    <a:cubicBezTo>
                      <a:pt x="357763" y="369217"/>
                      <a:pt x="373458" y="373048"/>
                      <a:pt x="388927" y="370933"/>
                    </a:cubicBezTo>
                    <a:lnTo>
                      <a:pt x="510778" y="354410"/>
                    </a:lnTo>
                    <a:cubicBezTo>
                      <a:pt x="525804" y="352405"/>
                      <a:pt x="539573" y="344956"/>
                      <a:pt x="549473" y="333476"/>
                    </a:cubicBezTo>
                    <a:lnTo>
                      <a:pt x="635261" y="233797"/>
                    </a:lnTo>
                    <a:cubicBezTo>
                      <a:pt x="644855" y="222556"/>
                      <a:pt x="650112" y="208255"/>
                      <a:pt x="650081" y="193477"/>
                    </a:cubicBezTo>
                    <a:lnTo>
                      <a:pt x="650081" y="168982"/>
                    </a:lnTo>
                    <a:cubicBezTo>
                      <a:pt x="735365" y="259210"/>
                      <a:pt x="764690" y="388748"/>
                      <a:pt x="726582" y="506909"/>
                    </a:cubicBezTo>
                    <a:lnTo>
                      <a:pt x="664128" y="449794"/>
                    </a:lnTo>
                    <a:cubicBezTo>
                      <a:pt x="646402" y="433524"/>
                      <a:pt x="620854" y="428997"/>
                      <a:pt x="598616" y="438186"/>
                    </a:cubicBezTo>
                    <a:lnTo>
                      <a:pt x="480751" y="487135"/>
                    </a:lnTo>
                    <a:cubicBezTo>
                      <a:pt x="460707" y="495548"/>
                      <a:pt x="446507" y="513812"/>
                      <a:pt x="443293" y="535311"/>
                    </a:cubicBezTo>
                    <a:lnTo>
                      <a:pt x="434045" y="597959"/>
                    </a:lnTo>
                    <a:cubicBezTo>
                      <a:pt x="429443" y="629181"/>
                      <a:pt x="449062" y="658869"/>
                      <a:pt x="479590" y="666875"/>
                    </a:cubicBezTo>
                    <a:lnTo>
                      <a:pt x="562630" y="688777"/>
                    </a:lnTo>
                    <a:lnTo>
                      <a:pt x="571762" y="697947"/>
                    </a:lnTo>
                    <a:cubicBezTo>
                      <a:pt x="431987" y="778144"/>
                      <a:pt x="255115" y="749223"/>
                      <a:pt x="148164" y="628683"/>
                    </a:cubicBezTo>
                    <a:close/>
                    <a:moveTo>
                      <a:pt x="622995" y="661690"/>
                    </a:moveTo>
                    <a:lnTo>
                      <a:pt x="606356" y="645012"/>
                    </a:lnTo>
                    <a:cubicBezTo>
                      <a:pt x="598594" y="637221"/>
                      <a:pt x="588897" y="631638"/>
                      <a:pt x="578263" y="628838"/>
                    </a:cubicBezTo>
                    <a:lnTo>
                      <a:pt x="495300" y="606936"/>
                    </a:lnTo>
                    <a:lnTo>
                      <a:pt x="504548" y="544288"/>
                    </a:lnTo>
                    <a:lnTo>
                      <a:pt x="622375" y="495300"/>
                    </a:lnTo>
                    <a:lnTo>
                      <a:pt x="700385" y="566809"/>
                    </a:lnTo>
                    <a:cubicBezTo>
                      <a:pt x="680503" y="602832"/>
                      <a:pt x="654286" y="634973"/>
                      <a:pt x="622995" y="661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5554470" y="3587115"/>
              <a:ext cx="10830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→ 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53472" y="4091940"/>
              <a:ext cx="1685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ONE REQUEST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905000" y="1866900"/>
            <a:ext cx="2142744" cy="805434"/>
            <a:chOff x="1905000" y="1866900"/>
            <a:chExt cx="2142744" cy="805434"/>
          </a:xfrm>
        </p:grpSpPr>
        <p:sp>
          <p:nvSpPr>
            <p:cNvPr id="23" name="Ellipse 23"/>
            <p:cNvSpPr/>
            <p:nvPr/>
          </p:nvSpPr>
          <p:spPr>
            <a:xfrm>
              <a:off x="1905000" y="1866900"/>
              <a:ext cx="762000" cy="762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2084784" y="2061726"/>
              <a:ext cx="402432" cy="371911"/>
              <a:chOff x="2084784" y="2061726"/>
              <a:chExt cx="402432" cy="37191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224088" y="2077641"/>
                <a:ext cx="123825" cy="34051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40519">
                    <a:moveTo>
                      <a:pt x="123825" y="61912"/>
                    </a:moveTo>
                    <a:lnTo>
                      <a:pt x="123825" y="340519"/>
                    </a:lnTo>
                    <a:lnTo>
                      <a:pt x="0" y="2786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084784" y="2061726"/>
                <a:ext cx="402432" cy="371911"/>
              </a:xfrm>
              <a:custGeom>
                <a:avLst/>
                <a:gdLst/>
                <a:ahLst/>
                <a:cxnLst/>
                <a:rect l="l" t="t" r="r" b="b"/>
                <a:pathLst>
                  <a:path w="402432" h="371911">
                    <a:moveTo>
                      <a:pt x="396472" y="34662"/>
                    </a:moveTo>
                    <a:cubicBezTo>
                      <a:pt x="392715" y="31735"/>
                      <a:pt x="387820" y="30700"/>
                      <a:pt x="383200" y="31857"/>
                    </a:cubicBezTo>
                    <a:lnTo>
                      <a:pt x="264927" y="61420"/>
                    </a:lnTo>
                    <a:lnTo>
                      <a:pt x="146230" y="2061"/>
                    </a:lnTo>
                    <a:cubicBezTo>
                      <a:pt x="142922" y="412"/>
                      <a:pt x="139134" y="0"/>
                      <a:pt x="135550" y="900"/>
                    </a:cubicBezTo>
                    <a:lnTo>
                      <a:pt x="11725" y="31857"/>
                    </a:lnTo>
                    <a:cubicBezTo>
                      <a:pt x="4835" y="33579"/>
                      <a:pt x="1" y="39769"/>
                      <a:pt x="0" y="46871"/>
                    </a:cubicBezTo>
                    <a:lnTo>
                      <a:pt x="0" y="325477"/>
                    </a:lnTo>
                    <a:cubicBezTo>
                      <a:pt x="1" y="330243"/>
                      <a:pt x="2197" y="334742"/>
                      <a:pt x="5953" y="337675"/>
                    </a:cubicBezTo>
                    <a:cubicBezTo>
                      <a:pt x="9710" y="340608"/>
                      <a:pt x="14608" y="341646"/>
                      <a:pt x="19232" y="340491"/>
                    </a:cubicBezTo>
                    <a:lnTo>
                      <a:pt x="137504" y="310927"/>
                    </a:lnTo>
                    <a:lnTo>
                      <a:pt x="256202" y="370286"/>
                    </a:lnTo>
                    <a:cubicBezTo>
                      <a:pt x="258357" y="371348"/>
                      <a:pt x="260726" y="371904"/>
                      <a:pt x="263128" y="371911"/>
                    </a:cubicBezTo>
                    <a:cubicBezTo>
                      <a:pt x="264394" y="371910"/>
                      <a:pt x="265654" y="371754"/>
                      <a:pt x="266882" y="371447"/>
                    </a:cubicBezTo>
                    <a:lnTo>
                      <a:pt x="390707" y="340491"/>
                    </a:lnTo>
                    <a:cubicBezTo>
                      <a:pt x="397596" y="338768"/>
                      <a:pt x="402430" y="332579"/>
                      <a:pt x="402431" y="325477"/>
                    </a:cubicBezTo>
                    <a:lnTo>
                      <a:pt x="402431" y="46871"/>
                    </a:lnTo>
                    <a:cubicBezTo>
                      <a:pt x="402432" y="42100"/>
                      <a:pt x="400234" y="37596"/>
                      <a:pt x="396472" y="34662"/>
                    </a:cubicBezTo>
                    <a:close/>
                    <a:moveTo>
                      <a:pt x="154781" y="40950"/>
                    </a:moveTo>
                    <a:lnTo>
                      <a:pt x="247650" y="87385"/>
                    </a:lnTo>
                    <a:lnTo>
                      <a:pt x="247650" y="331397"/>
                    </a:lnTo>
                    <a:lnTo>
                      <a:pt x="154781" y="284963"/>
                    </a:lnTo>
                    <a:close/>
                    <a:moveTo>
                      <a:pt x="30956" y="58963"/>
                    </a:moveTo>
                    <a:lnTo>
                      <a:pt x="123825" y="35746"/>
                    </a:lnTo>
                    <a:lnTo>
                      <a:pt x="123825" y="282428"/>
                    </a:lnTo>
                    <a:lnTo>
                      <a:pt x="30956" y="305645"/>
                    </a:lnTo>
                    <a:close/>
                    <a:moveTo>
                      <a:pt x="371475" y="313384"/>
                    </a:moveTo>
                    <a:lnTo>
                      <a:pt x="278606" y="336602"/>
                    </a:lnTo>
                    <a:lnTo>
                      <a:pt x="278606" y="89919"/>
                    </a:lnTo>
                    <a:lnTo>
                      <a:pt x="371475" y="667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2829306" y="1996440"/>
              <a:ext cx="121843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可交互元素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分布地图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858250" y="1619250"/>
            <a:ext cx="2622804" cy="805434"/>
            <a:chOff x="8858250" y="1619250"/>
            <a:chExt cx="2622804" cy="805434"/>
          </a:xfrm>
        </p:grpSpPr>
        <p:sp>
          <p:nvSpPr>
            <p:cNvPr id="29" name="Ellipse 29"/>
            <p:cNvSpPr/>
            <p:nvPr/>
          </p:nvSpPr>
          <p:spPr>
            <a:xfrm>
              <a:off x="8858250" y="1619250"/>
              <a:ext cx="762000" cy="762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053512" y="1799034"/>
              <a:ext cx="371475" cy="402431"/>
              <a:chOff x="9053512" y="1799034"/>
              <a:chExt cx="371475" cy="40243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068991" y="1814512"/>
                <a:ext cx="340519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185738">
                    <a:moveTo>
                      <a:pt x="340519" y="92869"/>
                    </a:moveTo>
                    <a:cubicBezTo>
                      <a:pt x="340519" y="144159"/>
                      <a:pt x="264289" y="185738"/>
                      <a:pt x="170259" y="185738"/>
                    </a:cubicBezTo>
                    <a:cubicBezTo>
                      <a:pt x="76230" y="185738"/>
                      <a:pt x="0" y="144159"/>
                      <a:pt x="0" y="92869"/>
                    </a:cubicBezTo>
                    <a:cubicBezTo>
                      <a:pt x="0" y="41578"/>
                      <a:pt x="76230" y="0"/>
                      <a:pt x="170259" y="0"/>
                    </a:cubicBezTo>
                    <a:cubicBezTo>
                      <a:pt x="264289" y="0"/>
                      <a:pt x="340519" y="41578"/>
                      <a:pt x="340519" y="92869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9053512" y="1799034"/>
                <a:ext cx="371475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402431">
                    <a:moveTo>
                      <a:pt x="185738" y="0"/>
                    </a:moveTo>
                    <a:cubicBezTo>
                      <a:pt x="81589" y="0"/>
                      <a:pt x="0" y="47595"/>
                      <a:pt x="0" y="108347"/>
                    </a:cubicBezTo>
                    <a:lnTo>
                      <a:pt x="0" y="294084"/>
                    </a:lnTo>
                    <a:cubicBezTo>
                      <a:pt x="0" y="354836"/>
                      <a:pt x="81589" y="402431"/>
                      <a:pt x="185738" y="402431"/>
                    </a:cubicBezTo>
                    <a:cubicBezTo>
                      <a:pt x="289886" y="402431"/>
                      <a:pt x="371475" y="354836"/>
                      <a:pt x="371475" y="294084"/>
                    </a:cubicBezTo>
                    <a:lnTo>
                      <a:pt x="371475" y="108347"/>
                    </a:lnTo>
                    <a:cubicBezTo>
                      <a:pt x="371475" y="47595"/>
                      <a:pt x="289886" y="0"/>
                      <a:pt x="185738" y="0"/>
                    </a:cubicBezTo>
                    <a:close/>
                    <a:moveTo>
                      <a:pt x="340519" y="201216"/>
                    </a:moveTo>
                    <a:cubicBezTo>
                      <a:pt x="340519" y="219828"/>
                      <a:pt x="325273" y="238808"/>
                      <a:pt x="298708" y="253300"/>
                    </a:cubicBezTo>
                    <a:cubicBezTo>
                      <a:pt x="268797" y="269610"/>
                      <a:pt x="228670" y="278606"/>
                      <a:pt x="185738" y="278606"/>
                    </a:cubicBezTo>
                    <a:cubicBezTo>
                      <a:pt x="142805" y="278606"/>
                      <a:pt x="102678" y="269610"/>
                      <a:pt x="72767" y="253300"/>
                    </a:cubicBezTo>
                    <a:cubicBezTo>
                      <a:pt x="46202" y="238808"/>
                      <a:pt x="30956" y="219828"/>
                      <a:pt x="30956" y="201216"/>
                    </a:cubicBezTo>
                    <a:lnTo>
                      <a:pt x="30956" y="169021"/>
                    </a:lnTo>
                    <a:cubicBezTo>
                      <a:pt x="63963" y="198043"/>
                      <a:pt x="120400" y="216694"/>
                      <a:pt x="185738" y="216694"/>
                    </a:cubicBezTo>
                    <a:cubicBezTo>
                      <a:pt x="251075" y="216694"/>
                      <a:pt x="307512" y="197965"/>
                      <a:pt x="340519" y="169021"/>
                    </a:cubicBezTo>
                    <a:close/>
                    <a:moveTo>
                      <a:pt x="72767" y="56263"/>
                    </a:moveTo>
                    <a:cubicBezTo>
                      <a:pt x="102678" y="39953"/>
                      <a:pt x="142805" y="30956"/>
                      <a:pt x="185738" y="30956"/>
                    </a:cubicBezTo>
                    <a:cubicBezTo>
                      <a:pt x="228670" y="30956"/>
                      <a:pt x="268797" y="39953"/>
                      <a:pt x="298708" y="56263"/>
                    </a:cubicBezTo>
                    <a:cubicBezTo>
                      <a:pt x="325273" y="70754"/>
                      <a:pt x="340519" y="89734"/>
                      <a:pt x="340519" y="108347"/>
                    </a:cubicBezTo>
                    <a:cubicBezTo>
                      <a:pt x="340519" y="126959"/>
                      <a:pt x="325273" y="145939"/>
                      <a:pt x="298708" y="160431"/>
                    </a:cubicBezTo>
                    <a:cubicBezTo>
                      <a:pt x="268797" y="176741"/>
                      <a:pt x="228670" y="185738"/>
                      <a:pt x="185738" y="185738"/>
                    </a:cubicBezTo>
                    <a:cubicBezTo>
                      <a:pt x="142805" y="185738"/>
                      <a:pt x="102678" y="176741"/>
                      <a:pt x="72767" y="160431"/>
                    </a:cubicBezTo>
                    <a:cubicBezTo>
                      <a:pt x="46202" y="145939"/>
                      <a:pt x="30956" y="126959"/>
                      <a:pt x="30956" y="108347"/>
                    </a:cubicBezTo>
                    <a:cubicBezTo>
                      <a:pt x="30956" y="89734"/>
                      <a:pt x="46202" y="70754"/>
                      <a:pt x="72767" y="56263"/>
                    </a:cubicBezTo>
                    <a:close/>
                    <a:moveTo>
                      <a:pt x="298708" y="346168"/>
                    </a:moveTo>
                    <a:cubicBezTo>
                      <a:pt x="268797" y="362478"/>
                      <a:pt x="228670" y="371475"/>
                      <a:pt x="185738" y="371475"/>
                    </a:cubicBezTo>
                    <a:cubicBezTo>
                      <a:pt x="142805" y="371475"/>
                      <a:pt x="102678" y="362478"/>
                      <a:pt x="72767" y="346168"/>
                    </a:cubicBezTo>
                    <a:cubicBezTo>
                      <a:pt x="46202" y="331677"/>
                      <a:pt x="30956" y="312697"/>
                      <a:pt x="30956" y="294084"/>
                    </a:cubicBezTo>
                    <a:lnTo>
                      <a:pt x="30956" y="261890"/>
                    </a:lnTo>
                    <a:cubicBezTo>
                      <a:pt x="63963" y="290911"/>
                      <a:pt x="120400" y="309562"/>
                      <a:pt x="185738" y="309562"/>
                    </a:cubicBezTo>
                    <a:cubicBezTo>
                      <a:pt x="251075" y="309562"/>
                      <a:pt x="307512" y="290834"/>
                      <a:pt x="340519" y="261890"/>
                    </a:cubicBezTo>
                    <a:lnTo>
                      <a:pt x="340519" y="294084"/>
                    </a:lnTo>
                    <a:cubicBezTo>
                      <a:pt x="340519" y="312697"/>
                      <a:pt x="325273" y="331677"/>
                      <a:pt x="298708" y="34616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782556" y="1748790"/>
              <a:ext cx="169849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标准化地球化学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数据库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15450" y="3562350"/>
            <a:ext cx="2142744" cy="767334"/>
            <a:chOff x="9315450" y="3562350"/>
            <a:chExt cx="2142744" cy="767334"/>
          </a:xfrm>
        </p:grpSpPr>
        <p:sp>
          <p:nvSpPr>
            <p:cNvPr id="35" name="Ellipse 35"/>
            <p:cNvSpPr/>
            <p:nvPr/>
          </p:nvSpPr>
          <p:spPr>
            <a:xfrm>
              <a:off x="9315450" y="3562350"/>
              <a:ext cx="762000" cy="762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510712" y="3773091"/>
              <a:ext cx="371475" cy="387480"/>
              <a:chOff x="9510712" y="3773091"/>
              <a:chExt cx="371475" cy="3874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9526191" y="3788569"/>
                <a:ext cx="340519" cy="356229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356229">
                    <a:moveTo>
                      <a:pt x="340519" y="15478"/>
                    </a:moveTo>
                    <a:lnTo>
                      <a:pt x="340519" y="129184"/>
                    </a:lnTo>
                    <a:cubicBezTo>
                      <a:pt x="340519" y="292053"/>
                      <a:pt x="202551" y="346013"/>
                      <a:pt x="175019" y="355165"/>
                    </a:cubicBezTo>
                    <a:cubicBezTo>
                      <a:pt x="171935" y="356229"/>
                      <a:pt x="168584" y="356229"/>
                      <a:pt x="165500" y="355165"/>
                    </a:cubicBezTo>
                    <a:cubicBezTo>
                      <a:pt x="137968" y="346052"/>
                      <a:pt x="0" y="292150"/>
                      <a:pt x="0" y="129223"/>
                    </a:cubicBezTo>
                    <a:lnTo>
                      <a:pt x="0" y="15478"/>
                    </a:lnTo>
                    <a:cubicBezTo>
                      <a:pt x="0" y="6930"/>
                      <a:pt x="6930" y="0"/>
                      <a:pt x="15478" y="0"/>
                    </a:cubicBezTo>
                    <a:lnTo>
                      <a:pt x="325041" y="0"/>
                    </a:lnTo>
                    <a:cubicBezTo>
                      <a:pt x="333589" y="0"/>
                      <a:pt x="340519" y="6930"/>
                      <a:pt x="340519" y="15478"/>
                    </a:cubicBezTo>
                    <a:close/>
                  </a:path>
                </a:pathLst>
              </a:custGeom>
              <a:solidFill>
                <a:schemeClr val="accent3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510712" y="3773091"/>
                <a:ext cx="371475" cy="387480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87480">
                    <a:moveTo>
                      <a:pt x="340519" y="0"/>
                    </a:moveTo>
                    <a:lnTo>
                      <a:pt x="30956" y="0"/>
                    </a:lnTo>
                    <a:cubicBezTo>
                      <a:pt x="13860" y="0"/>
                      <a:pt x="0" y="13860"/>
                      <a:pt x="0" y="30956"/>
                    </a:cubicBezTo>
                    <a:lnTo>
                      <a:pt x="0" y="144682"/>
                    </a:lnTo>
                    <a:cubicBezTo>
                      <a:pt x="0" y="318056"/>
                      <a:pt x="146694" y="375577"/>
                      <a:pt x="176064" y="385347"/>
                    </a:cubicBezTo>
                    <a:cubicBezTo>
                      <a:pt x="182336" y="387480"/>
                      <a:pt x="189139" y="387480"/>
                      <a:pt x="195411" y="385347"/>
                    </a:cubicBezTo>
                    <a:cubicBezTo>
                      <a:pt x="224820" y="375577"/>
                      <a:pt x="371475" y="318056"/>
                      <a:pt x="371475" y="144682"/>
                    </a:cubicBezTo>
                    <a:lnTo>
                      <a:pt x="371475" y="30956"/>
                    </a:lnTo>
                    <a:cubicBezTo>
                      <a:pt x="371475" y="13860"/>
                      <a:pt x="357615" y="0"/>
                      <a:pt x="340519" y="0"/>
                    </a:cubicBezTo>
                    <a:close/>
                    <a:moveTo>
                      <a:pt x="340519" y="144701"/>
                    </a:moveTo>
                    <a:cubicBezTo>
                      <a:pt x="340519" y="296425"/>
                      <a:pt x="212147" y="347116"/>
                      <a:pt x="185738" y="355939"/>
                    </a:cubicBezTo>
                    <a:cubicBezTo>
                      <a:pt x="159560" y="347213"/>
                      <a:pt x="30956" y="296561"/>
                      <a:pt x="30956" y="144701"/>
                    </a:cubicBezTo>
                    <a:lnTo>
                      <a:pt x="30956" y="30956"/>
                    </a:lnTo>
                    <a:lnTo>
                      <a:pt x="340519" y="30956"/>
                    </a:lnTo>
                    <a:close/>
                    <a:moveTo>
                      <a:pt x="97396" y="196688"/>
                    </a:moveTo>
                    <a:cubicBezTo>
                      <a:pt x="91348" y="190640"/>
                      <a:pt x="91348" y="180835"/>
                      <a:pt x="97396" y="174787"/>
                    </a:cubicBezTo>
                    <a:cubicBezTo>
                      <a:pt x="103444" y="168739"/>
                      <a:pt x="113250" y="168739"/>
                      <a:pt x="119298" y="174787"/>
                    </a:cubicBezTo>
                    <a:lnTo>
                      <a:pt x="154781" y="210270"/>
                    </a:lnTo>
                    <a:lnTo>
                      <a:pt x="252177" y="112874"/>
                    </a:lnTo>
                    <a:cubicBezTo>
                      <a:pt x="258225" y="106826"/>
                      <a:pt x="268031" y="106826"/>
                      <a:pt x="274079" y="112874"/>
                    </a:cubicBezTo>
                    <a:cubicBezTo>
                      <a:pt x="280127" y="118922"/>
                      <a:pt x="280127" y="128728"/>
                      <a:pt x="274079" y="134776"/>
                    </a:cubicBezTo>
                    <a:lnTo>
                      <a:pt x="165732" y="243123"/>
                    </a:lnTo>
                    <a:cubicBezTo>
                      <a:pt x="162829" y="246029"/>
                      <a:pt x="158889" y="247662"/>
                      <a:pt x="154781" y="247662"/>
                    </a:cubicBezTo>
                    <a:cubicBezTo>
                      <a:pt x="150673" y="247662"/>
                      <a:pt x="146734" y="246029"/>
                      <a:pt x="143830" y="24312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239756" y="3653790"/>
              <a:ext cx="121843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数据来源与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置信度说明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77000" y="4743450"/>
            <a:ext cx="1902714" cy="805434"/>
            <a:chOff x="6477000" y="4743450"/>
            <a:chExt cx="1902714" cy="805434"/>
          </a:xfrm>
        </p:grpSpPr>
        <p:sp>
          <p:nvSpPr>
            <p:cNvPr id="41" name="Ellipse 41"/>
            <p:cNvSpPr/>
            <p:nvPr/>
          </p:nvSpPr>
          <p:spPr>
            <a:xfrm>
              <a:off x="6477000" y="4743450"/>
              <a:ext cx="762000" cy="762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638436" y="4904770"/>
              <a:ext cx="436307" cy="439360"/>
              <a:chOff x="6638436" y="4904770"/>
              <a:chExt cx="436307" cy="43936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656976" y="4923329"/>
                <a:ext cx="403751" cy="402242"/>
              </a:xfrm>
              <a:custGeom>
                <a:avLst/>
                <a:gdLst/>
                <a:ahLst/>
                <a:cxnLst/>
                <a:rect l="l" t="t" r="r" b="b"/>
                <a:pathLst>
                  <a:path w="403751" h="402242">
                    <a:moveTo>
                      <a:pt x="397732" y="211994"/>
                    </a:moveTo>
                    <a:lnTo>
                      <a:pt x="211994" y="397732"/>
                    </a:lnTo>
                    <a:cubicBezTo>
                      <a:pt x="209113" y="400620"/>
                      <a:pt x="205201" y="402242"/>
                      <a:pt x="201121" y="402242"/>
                    </a:cubicBezTo>
                    <a:cubicBezTo>
                      <a:pt x="197042" y="402242"/>
                      <a:pt x="193130" y="400620"/>
                      <a:pt x="190248" y="397732"/>
                    </a:cubicBezTo>
                    <a:lnTo>
                      <a:pt x="4510" y="211994"/>
                    </a:lnTo>
                    <a:cubicBezTo>
                      <a:pt x="1623" y="209113"/>
                      <a:pt x="0" y="205201"/>
                      <a:pt x="0" y="201121"/>
                    </a:cubicBezTo>
                    <a:cubicBezTo>
                      <a:pt x="0" y="197042"/>
                      <a:pt x="1623" y="193130"/>
                      <a:pt x="4510" y="190248"/>
                    </a:cubicBezTo>
                    <a:lnTo>
                      <a:pt x="190344" y="4510"/>
                    </a:lnTo>
                    <a:cubicBezTo>
                      <a:pt x="193226" y="1623"/>
                      <a:pt x="197138" y="0"/>
                      <a:pt x="201218" y="0"/>
                    </a:cubicBezTo>
                    <a:cubicBezTo>
                      <a:pt x="205297" y="0"/>
                      <a:pt x="209209" y="1623"/>
                      <a:pt x="212091" y="4510"/>
                    </a:cubicBezTo>
                    <a:lnTo>
                      <a:pt x="397829" y="190344"/>
                    </a:lnTo>
                    <a:cubicBezTo>
                      <a:pt x="403751" y="196362"/>
                      <a:pt x="403708" y="206031"/>
                      <a:pt x="397732" y="211994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38436" y="4904770"/>
                <a:ext cx="436307" cy="439360"/>
              </a:xfrm>
              <a:custGeom>
                <a:avLst/>
                <a:gdLst/>
                <a:ahLst/>
                <a:cxnLst/>
                <a:rect l="l" t="t" r="r" b="b"/>
                <a:pathLst>
                  <a:path w="436307" h="439360">
                    <a:moveTo>
                      <a:pt x="219564" y="111333"/>
                    </a:moveTo>
                    <a:cubicBezTo>
                      <a:pt x="228112" y="111333"/>
                      <a:pt x="235042" y="118263"/>
                      <a:pt x="235042" y="126811"/>
                    </a:cubicBezTo>
                    <a:lnTo>
                      <a:pt x="235042" y="235158"/>
                    </a:lnTo>
                    <a:cubicBezTo>
                      <a:pt x="235042" y="243707"/>
                      <a:pt x="228112" y="250636"/>
                      <a:pt x="219564" y="250636"/>
                    </a:cubicBezTo>
                    <a:cubicBezTo>
                      <a:pt x="211016" y="250636"/>
                      <a:pt x="204086" y="243707"/>
                      <a:pt x="204086" y="235158"/>
                    </a:cubicBezTo>
                    <a:lnTo>
                      <a:pt x="204086" y="126811"/>
                    </a:lnTo>
                    <a:cubicBezTo>
                      <a:pt x="204086" y="118263"/>
                      <a:pt x="211016" y="111333"/>
                      <a:pt x="219564" y="111333"/>
                    </a:cubicBezTo>
                    <a:close/>
                    <a:moveTo>
                      <a:pt x="196347" y="304810"/>
                    </a:moveTo>
                    <a:cubicBezTo>
                      <a:pt x="196347" y="317632"/>
                      <a:pt x="206742" y="328027"/>
                      <a:pt x="219564" y="328027"/>
                    </a:cubicBezTo>
                    <a:cubicBezTo>
                      <a:pt x="232387" y="328027"/>
                      <a:pt x="242781" y="317632"/>
                      <a:pt x="242781" y="304810"/>
                    </a:cubicBezTo>
                    <a:cubicBezTo>
                      <a:pt x="242781" y="291987"/>
                      <a:pt x="232387" y="281593"/>
                      <a:pt x="219564" y="281593"/>
                    </a:cubicBezTo>
                    <a:cubicBezTo>
                      <a:pt x="206742" y="281593"/>
                      <a:pt x="196347" y="291987"/>
                      <a:pt x="196347" y="304810"/>
                    </a:cubicBezTo>
                    <a:close/>
                    <a:moveTo>
                      <a:pt x="436258" y="219680"/>
                    </a:moveTo>
                    <a:cubicBezTo>
                      <a:pt x="436281" y="227870"/>
                      <a:pt x="433028" y="235728"/>
                      <a:pt x="427223" y="241504"/>
                    </a:cubicBezTo>
                    <a:lnTo>
                      <a:pt x="241388" y="427358"/>
                    </a:lnTo>
                    <a:cubicBezTo>
                      <a:pt x="229314" y="439360"/>
                      <a:pt x="209814" y="439360"/>
                      <a:pt x="197740" y="427358"/>
                    </a:cubicBezTo>
                    <a:lnTo>
                      <a:pt x="197740" y="427358"/>
                    </a:lnTo>
                    <a:lnTo>
                      <a:pt x="12002" y="241504"/>
                    </a:lnTo>
                    <a:cubicBezTo>
                      <a:pt x="0" y="229430"/>
                      <a:pt x="0" y="209930"/>
                      <a:pt x="12002" y="197856"/>
                    </a:cubicBezTo>
                    <a:lnTo>
                      <a:pt x="197837" y="12002"/>
                    </a:lnTo>
                    <a:cubicBezTo>
                      <a:pt x="209911" y="0"/>
                      <a:pt x="229411" y="0"/>
                      <a:pt x="241485" y="12002"/>
                    </a:cubicBezTo>
                    <a:lnTo>
                      <a:pt x="427319" y="197856"/>
                    </a:lnTo>
                    <a:cubicBezTo>
                      <a:pt x="433089" y="203648"/>
                      <a:pt x="436307" y="211505"/>
                      <a:pt x="436258" y="219680"/>
                    </a:cubicBezTo>
                    <a:close/>
                    <a:moveTo>
                      <a:pt x="405302" y="219680"/>
                    </a:moveTo>
                    <a:lnTo>
                      <a:pt x="219564" y="33943"/>
                    </a:lnTo>
                    <a:lnTo>
                      <a:pt x="33827" y="219680"/>
                    </a:lnTo>
                    <a:lnTo>
                      <a:pt x="219564" y="405418"/>
                    </a:lnTo>
                    <a:lnTo>
                      <a:pt x="219564" y="4054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01306" y="4872990"/>
              <a:ext cx="97840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异常区域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识别结果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905000" y="4305300"/>
            <a:ext cx="1974723" cy="805434"/>
            <a:chOff x="1905000" y="4305300"/>
            <a:chExt cx="1974723" cy="805434"/>
          </a:xfrm>
        </p:grpSpPr>
        <p:sp>
          <p:nvSpPr>
            <p:cNvPr id="47" name="Ellipse 47"/>
            <p:cNvSpPr/>
            <p:nvPr/>
          </p:nvSpPr>
          <p:spPr>
            <a:xfrm>
              <a:off x="1905000" y="4305300"/>
              <a:ext cx="762000" cy="7620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2084784" y="4485084"/>
              <a:ext cx="402431" cy="402431"/>
              <a:chOff x="2084784" y="4485084"/>
              <a:chExt cx="402431" cy="40243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2100262" y="4500562"/>
                <a:ext cx="371475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71475">
                    <a:moveTo>
                      <a:pt x="371475" y="185738"/>
                    </a:moveTo>
                    <a:cubicBezTo>
                      <a:pt x="371475" y="288317"/>
                      <a:pt x="288317" y="371475"/>
                      <a:pt x="185738" y="371475"/>
                    </a:cubicBezTo>
                    <a:cubicBezTo>
                      <a:pt x="83158" y="371475"/>
                      <a:pt x="0" y="288317"/>
                      <a:pt x="0" y="185738"/>
                    </a:cubicBezTo>
                    <a:cubicBezTo>
                      <a:pt x="0" y="83158"/>
                      <a:pt x="83158" y="0"/>
                      <a:pt x="185738" y="0"/>
                    </a:cubicBezTo>
                    <a:cubicBezTo>
                      <a:pt x="288317" y="0"/>
                      <a:pt x="371475" y="83158"/>
                      <a:pt x="371475" y="185738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2084784" y="4485084"/>
                <a:ext cx="402431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402431">
                    <a:moveTo>
                      <a:pt x="289557" y="143830"/>
                    </a:moveTo>
                    <a:cubicBezTo>
                      <a:pt x="292463" y="146734"/>
                      <a:pt x="294097" y="150673"/>
                      <a:pt x="294097" y="154781"/>
                    </a:cubicBezTo>
                    <a:cubicBezTo>
                      <a:pt x="294097" y="158889"/>
                      <a:pt x="292463" y="162829"/>
                      <a:pt x="289557" y="165732"/>
                    </a:cubicBezTo>
                    <a:lnTo>
                      <a:pt x="181210" y="274079"/>
                    </a:lnTo>
                    <a:cubicBezTo>
                      <a:pt x="178307" y="276985"/>
                      <a:pt x="174367" y="278618"/>
                      <a:pt x="170259" y="278618"/>
                    </a:cubicBezTo>
                    <a:cubicBezTo>
                      <a:pt x="166151" y="278618"/>
                      <a:pt x="162212" y="276985"/>
                      <a:pt x="159309" y="274079"/>
                    </a:cubicBezTo>
                    <a:lnTo>
                      <a:pt x="112874" y="227645"/>
                    </a:lnTo>
                    <a:cubicBezTo>
                      <a:pt x="106826" y="221597"/>
                      <a:pt x="106826" y="211791"/>
                      <a:pt x="112874" y="205743"/>
                    </a:cubicBezTo>
                    <a:cubicBezTo>
                      <a:pt x="118922" y="199695"/>
                      <a:pt x="128728" y="199695"/>
                      <a:pt x="134776" y="205743"/>
                    </a:cubicBezTo>
                    <a:lnTo>
                      <a:pt x="170259" y="241246"/>
                    </a:lnTo>
                    <a:lnTo>
                      <a:pt x="267655" y="143830"/>
                    </a:lnTo>
                    <a:cubicBezTo>
                      <a:pt x="270559" y="140924"/>
                      <a:pt x="274498" y="139291"/>
                      <a:pt x="278606" y="139291"/>
                    </a:cubicBezTo>
                    <a:cubicBezTo>
                      <a:pt x="282714" y="139291"/>
                      <a:pt x="286654" y="140924"/>
                      <a:pt x="289557" y="143830"/>
                    </a:cubicBezTo>
                    <a:close/>
                    <a:moveTo>
                      <a:pt x="402431" y="201216"/>
                    </a:moveTo>
                    <a:cubicBezTo>
                      <a:pt x="402431" y="312344"/>
                      <a:pt x="312344" y="402431"/>
                      <a:pt x="201216" y="402431"/>
                    </a:cubicBezTo>
                    <a:cubicBezTo>
                      <a:pt x="90087" y="402431"/>
                      <a:pt x="0" y="312344"/>
                      <a:pt x="0" y="201216"/>
                    </a:cubicBezTo>
                    <a:cubicBezTo>
                      <a:pt x="0" y="90087"/>
                      <a:pt x="90087" y="0"/>
                      <a:pt x="201216" y="0"/>
                    </a:cubicBezTo>
                    <a:cubicBezTo>
                      <a:pt x="312295" y="117"/>
                      <a:pt x="402314" y="90136"/>
                      <a:pt x="402431" y="201216"/>
                    </a:cubicBezTo>
                    <a:close/>
                    <a:moveTo>
                      <a:pt x="371475" y="201216"/>
                    </a:moveTo>
                    <a:cubicBezTo>
                      <a:pt x="371475" y="107184"/>
                      <a:pt x="295247" y="30956"/>
                      <a:pt x="201216" y="30956"/>
                    </a:cubicBezTo>
                    <a:cubicBezTo>
                      <a:pt x="107184" y="30956"/>
                      <a:pt x="30956" y="107184"/>
                      <a:pt x="30956" y="201216"/>
                    </a:cubicBezTo>
                    <a:cubicBezTo>
                      <a:pt x="30956" y="295247"/>
                      <a:pt x="107184" y="371475"/>
                      <a:pt x="201216" y="371475"/>
                    </a:cubicBezTo>
                    <a:cubicBezTo>
                      <a:pt x="295203" y="371368"/>
                      <a:pt x="371368" y="295203"/>
                      <a:pt x="371475" y="2012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2829306" y="4434840"/>
              <a:ext cx="1050417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可复用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文档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219200" y="5791200"/>
            <a:ext cx="9753600" cy="462534"/>
            <a:chOff x="1219200" y="5791200"/>
            <a:chExt cx="9753600" cy="462534"/>
          </a:xfrm>
        </p:grpSpPr>
        <p:sp>
          <p:nvSpPr>
            <p:cNvPr id="53" name="Line 53"/>
            <p:cNvSpPr/>
            <p:nvPr/>
          </p:nvSpPr>
          <p:spPr>
            <a:xfrm>
              <a:off x="1219200" y="5791200"/>
              <a:ext cx="9753600" cy="9525"/>
            </a:xfrm>
            <a:custGeom>
              <a:avLst/>
              <a:gdLst/>
              <a:ahLst/>
              <a:cxnLst/>
              <a:rect l="l" t="t" r="r" b="b"/>
              <a:pathLst>
                <a:path w="9753600" h="9525">
                  <a:moveTo>
                    <a:pt x="0" y="0"/>
                  </a:moveTo>
                  <a:lnTo>
                    <a:pt x="9753600" y="0"/>
                  </a:lnTo>
                </a:path>
              </a:pathLst>
            </a:custGeom>
            <a:noFill/>
            <a:ln w="14288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762779" y="5901690"/>
              <a:ext cx="86664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15 declared sources · 44,536 canonical records · global + China live views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059251" y="6251258"/>
            <a:ext cx="8073498" cy="616077"/>
            <a:chOff x="2059251" y="6251258"/>
            <a:chExt cx="8073498" cy="616077"/>
          </a:xfrm>
        </p:grpSpPr>
        <p:sp>
          <p:nvSpPr>
            <p:cNvPr id="56" name="TextBox 56"/>
            <p:cNvSpPr txBox="1"/>
            <p:nvPr/>
          </p:nvSpPr>
          <p:spPr>
            <a:xfrm>
              <a:off x="2059251" y="6251258"/>
              <a:ext cx="80734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spc="75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Open → Inspect → Trace → Reproduce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550">
        <p14:reveal dir="r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11" presetID="2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1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7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30"/>
                            </p:stCondLst>
                            <p:childTnLst>
                              <p:par>
                                <p:cTn xmlns:p="http://schemas.openxmlformats.org/presentationml/2006/main" id="2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90"/>
                            </p:stCondLst>
                            <p:childTnLst>
                              <p:par>
                                <p:cTn xmlns:p="http://schemas.openxmlformats.org/presentationml/2006/main" id="2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50"/>
                            </p:stCondLst>
                            <p:childTnLst>
                              <p:par>
                                <p:cTn xmlns:p="http://schemas.openxmlformats.org/presentationml/2006/main" id="3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1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770"/>
                            </p:stCondLst>
                            <p:childTnLst>
                              <p:par>
                                <p:cTn xmlns:p="http://schemas.openxmlformats.org/presentationml/2006/main" id="3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xmlns:p="http://schemas.openxmlformats.org/presentationml/2006/main" id="43" presetID="10" presetClass="emph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44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rgbClr val="F3F8FA"/>
      </a:dk1>
      <a:lt1>
        <a:srgbClr val="03141B"/>
      </a:lt1>
      <a:dk2>
        <a:srgbClr val="1F497D"/>
      </a:dk2>
      <a:lt2>
        <a:srgbClr val="0B2630"/>
      </a:lt2>
      <a:accent1>
        <a:srgbClr val="69F5E6"/>
      </a:accent1>
      <a:accent2>
        <a:srgbClr val="FF5C78"/>
      </a:accent2>
      <a:accent3>
        <a:srgbClr val="F6C344"/>
      </a:accent3>
      <a:accent4>
        <a:srgbClr val="69F5E6"/>
      </a:accent4>
      <a:accent5>
        <a:srgbClr val="95AFB7"/>
      </a:accent5>
      <a:accent6>
        <a:srgbClr val="1A3B44"/>
      </a:accent6>
      <a:hlink>
        <a:srgbClr val="FF5C78"/>
      </a:hlink>
      <a:folHlink>
        <a:srgbClr val="F6C344"/>
      </a:folHlink>
    </a:clrScheme>
    <a:fontScheme name="Free Design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rgbClr val="F3F8FA"/>
      </a:dk1>
      <a:lt1>
        <a:srgbClr val="03141B"/>
      </a:lt1>
      <a:dk2>
        <a:srgbClr val="1F497D"/>
      </a:dk2>
      <a:lt2>
        <a:srgbClr val="0B2630"/>
      </a:lt2>
      <a:accent1>
        <a:srgbClr val="69F5E6"/>
      </a:accent1>
      <a:accent2>
        <a:srgbClr val="FF5C78"/>
      </a:accent2>
      <a:accent3>
        <a:srgbClr val="F6C344"/>
      </a:accent3>
      <a:accent4>
        <a:srgbClr val="69F5E6"/>
      </a:accent4>
      <a:accent5>
        <a:srgbClr val="95AFB7"/>
      </a:accent5>
      <a:accent6>
        <a:srgbClr val="1A3B44"/>
      </a:accent6>
      <a:hlink>
        <a:srgbClr val="FF5C78"/>
      </a:hlink>
      <a:folHlink>
        <a:srgbClr val="F6C344"/>
      </a:folHlink>
    </a:clrScheme>
    <a:fontScheme name="Free Design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2026-08-07T10:17:52Z</dcterms:created>
  <dcterms:modified xsi:type="dcterms:W3CDTF">2026-08-07T10:17:52Z</dcterms:modified>
  <cp:category/>
  <cp:contentStatus/>
</cp:coreProperties>
</file>